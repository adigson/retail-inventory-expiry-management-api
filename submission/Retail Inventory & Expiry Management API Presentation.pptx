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Fira Code"/>
      <ns0:regular ns1:id="rIdFont19"/>
    </ns0:embeddedFont>
    <ns0:embeddedFont>
      <ns0:font typeface="Plus Jakarta Sans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8dacc123-2966-43c2-91e2-0e25780ba403.fntdata" /><ns0:Relationship Id="rIdFont20" Type="http://schemas.openxmlformats.org/officeDocument/2006/relationships/font" Target="fonts/bf2dc006-9653-4554-b8b9-f348e5ec2817.fntdata" /><ns0:Relationship Id="rIdFont21" Type="http://schemas.openxmlformats.org/officeDocument/2006/relationships/font" Target="fonts/75592920-d2f5-4bbb-a0f4-4a17041802a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048250"/>
            <a:ext cx="10972800" cy="1352550"/>
          </a:xfrm>
          <a:prstGeom prst="roundRect">
            <a:avLst>
              <a:gd name="adj" fmla="val 84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57200"/>
            <a:ext cx="1000125" cy="247650"/>
          </a:xfrm>
          <a:prstGeom prst="roundRect">
            <a:avLst>
              <a:gd name="adj" fmla="val 1538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5634037"/>
            <a:ext cx="1905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112" y="5634037"/>
            <a:ext cx="1905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5634037"/>
            <a:ext cx="1905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487" y="5634037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5986462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112" y="5986462"/>
            <a:ext cx="1905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5986462"/>
            <a:ext cx="1905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487" y="5986462"/>
            <a:ext cx="1905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857250"/>
            <a:ext cx="9101137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Retail Inventory &amp; Expiry Management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022871"/>
            <a:ext cx="7905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An Express.js REST API providing real-time stock visibility, automated expiration tracking, and flexible query filtering.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5286375"/>
            <a:ext cx="11268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PROJECT ENGINEERING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495300"/>
            <a:ext cx="866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GROUP 5C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4025" y="495300"/>
            <a:ext cx="3321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Backend Development • October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9675" y="5610225"/>
            <a:ext cx="133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David Oladele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2862" y="5610225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Musibau BOLAJI (Adigson)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6050" y="5610225"/>
            <a:ext cx="152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Precious Chisom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9237" y="5610225"/>
            <a:ext cx="166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Jamila Umar Adam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9675" y="5962650"/>
            <a:ext cx="1535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Okwara Godfrey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2862" y="5962650"/>
            <a:ext cx="2178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Ezekiel Micheal Danlami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5962650"/>
            <a:ext cx="1464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Noah Fater Kusa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9237" y="5962650"/>
            <a:ext cx="133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Yahaya Sheidu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62600"/>
            <a:ext cx="10972800" cy="838200"/>
          </a:xfrm>
          <a:prstGeom prst="roundRect">
            <a:avLst>
              <a:gd name="adj" fmla="val 909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58615"/>
            <a:ext cx="3505200" cy="2188368"/>
          </a:xfrm>
          <a:prstGeom prst="roundRect">
            <a:avLst>
              <a:gd name="adj" fmla="val 34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378571"/>
            <a:ext cx="3505200" cy="1948457"/>
          </a:xfrm>
          <a:prstGeom prst="roundRect">
            <a:avLst>
              <a:gd name="adj" fmla="val 39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378571"/>
            <a:ext cx="3505200" cy="1948457"/>
          </a:xfrm>
          <a:prstGeom prst="roundRect">
            <a:avLst>
              <a:gd name="adj" fmla="val 39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58615"/>
            <a:ext cx="38100" cy="218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2378571"/>
            <a:ext cx="38100" cy="194845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77200" y="2378571"/>
            <a:ext cx="38100" cy="19484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5867400"/>
            <a:ext cx="1714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25315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645271"/>
            <a:ext cx="3048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2645271"/>
            <a:ext cx="2000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01 / Context &amp;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143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Retail Stock Blind Spots &amp; Operational Friction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9675" y="5762625"/>
            <a:ext cx="10191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The Solution: An lightweight, automated Express REST API delivering fast stock visibility, schema validation, and targeted expiration alerts.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06315"/>
            <a:ext cx="38504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Unnoticed Product Expirations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20640"/>
            <a:ext cx="302895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Perishable items expire undetected on retail shelves, causing heavy financial loss and safety non-compliance.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3026271"/>
            <a:ext cx="38504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Stockout Bottlenecks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3340596"/>
            <a:ext cx="30289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Manual inventory tracking fails to highlight low-stock thresholds quickly, leading to unfulfilled orders.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026271"/>
            <a:ext cx="381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Unstructured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3340596"/>
            <a:ext cx="30289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Spreadsheets and paper logs cause human error, inconsistent SKUs, and delayed store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19800"/>
            <a:ext cx="10972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05062"/>
            <a:ext cx="2600325" cy="2352675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405062"/>
            <a:ext cx="2600325" cy="2352675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405062"/>
            <a:ext cx="2600325" cy="2352675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405062"/>
            <a:ext cx="2600325" cy="2352675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0198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68128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268128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475" y="2681287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2681287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2805112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0475" y="2805112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5587" y="2805112"/>
            <a:ext cx="18097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125" y="2805112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02 / 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143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Objectives &amp; API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1817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Plus Jakarta Sans"/>
              </a:rPr>
              <a:t>Primary Goal:</a:t>
            </a:r>
            <a:r>
              <a:rPr b="0" sz="1350" i="0" u="none">
                <a:solidFill>
                  <a:srgbClr val="64748B"/>
                </a:solidFill>
                <a:latin typeface="Plus Jakarta Sans"/>
              </a:rPr>
              <a:t> Provide a clean, developer-friendly backend foundation to keep retail product records accurate and actionable.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290887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Full CRUD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605212"/>
            <a:ext cx="214312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Standardized HTTP methods to create, read, update, and delete product records.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3290887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Search &amp; 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6650" y="3605212"/>
            <a:ext cx="214312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Instant query processing by category tags and keyword pattern matching.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3290887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Threshold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3605212"/>
            <a:ext cx="214312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Dynamic filtering for low stock levels and items approaching expiration date.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300" y="3290887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Schema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8300" y="3605212"/>
            <a:ext cx="214312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Input middleware ensuring unique SKUs, valid dates, and required product fields.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19775"/>
            <a:ext cx="10972800" cy="581025"/>
          </a:xfrm>
          <a:prstGeom prst="roundRect">
            <a:avLst>
              <a:gd name="adj" fmla="val 1311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05100"/>
            <a:ext cx="2042219" cy="1552575"/>
          </a:xfrm>
          <a:prstGeom prst="roundRect">
            <a:avLst>
              <a:gd name="adj" fmla="val 61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42319" y="2705100"/>
            <a:ext cx="2042219" cy="1552575"/>
          </a:xfrm>
          <a:prstGeom prst="roundRect">
            <a:avLst>
              <a:gd name="adj" fmla="val 61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75039" y="2705100"/>
            <a:ext cx="2042219" cy="1552575"/>
          </a:xfrm>
          <a:prstGeom prst="roundRect">
            <a:avLst>
              <a:gd name="adj" fmla="val 61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07758" y="2705100"/>
            <a:ext cx="2042219" cy="1552575"/>
          </a:xfrm>
          <a:prstGeom prst="roundRect">
            <a:avLst>
              <a:gd name="adj" fmla="val 61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40478" y="2705100"/>
            <a:ext cx="2042219" cy="1552575"/>
          </a:xfrm>
          <a:prstGeom prst="roundRect">
            <a:avLst>
              <a:gd name="adj" fmla="val 61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309" y="2943225"/>
            <a:ext cx="3048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979" y="2943225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48" y="2943225"/>
            <a:ext cx="3048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468" y="2943225"/>
            <a:ext cx="3048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0137" y="2943225"/>
            <a:ext cx="3429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03 / Technology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143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Backend Ecosystem &amp; Developer Tooling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6010275"/>
            <a:ext cx="6143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Version Control &amp; Collaboration: </a:t>
            </a:r>
            <a:r>
              <a:rPr b="1" sz="1200" i="0" u="none">
                <a:solidFill>
                  <a:srgbClr val="334155"/>
                </a:solidFill>
                <a:latin typeface="Plus Jakarta Sans"/>
              </a:rPr>
              <a:t>Git / GitHub (PR Verification Flow)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5900" y="6010275"/>
            <a:ext cx="285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Status: </a:t>
            </a:r>
            <a:r>
              <a:rPr b="1" sz="1200" i="0" u="none">
                <a:solidFill>
                  <a:srgbClr val="0284C7"/>
                </a:solidFill>
                <a:latin typeface="Plus Jakarta Sans"/>
              </a:rPr>
              <a:t>Production Ready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042" y="3400425"/>
            <a:ext cx="20553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Node.js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78" y="3657600"/>
            <a:ext cx="195746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Asynchronous runtime execution.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5761" y="3400425"/>
            <a:ext cx="20553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Express.js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4698" y="3657600"/>
            <a:ext cx="195746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REST API routing &amp; middleware.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8481" y="3400425"/>
            <a:ext cx="20553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JavaScript ES6+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7417" y="3657600"/>
            <a:ext cx="195746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Modern language features.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1200" y="3400425"/>
            <a:ext cx="20553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In-Memory Array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0137" y="3657600"/>
            <a:ext cx="195746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Fast local dataset storage.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3920" y="3400425"/>
            <a:ext cx="20553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Jest &amp; Postman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856" y="3657600"/>
            <a:ext cx="195746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33 Unit tests &amp; API runner.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69458"/>
            <a:ext cx="10972800" cy="73134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58541"/>
            <a:ext cx="1927919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70894" y="2858541"/>
            <a:ext cx="1927919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32189" y="2858541"/>
            <a:ext cx="1927919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93483" y="2858541"/>
            <a:ext cx="1927919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54778" y="2858541"/>
            <a:ext cx="1927919" cy="1095375"/>
          </a:xfrm>
          <a:prstGeom prst="roundRect">
            <a:avLst>
              <a:gd name="adj" fmla="val 8695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669458"/>
            <a:ext cx="38100" cy="73134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3047" y="3087141"/>
            <a:ext cx="581025" cy="180975"/>
          </a:xfrm>
          <a:prstGeom prst="roundRect">
            <a:avLst>
              <a:gd name="adj" fmla="val 2105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4816" y="3087141"/>
            <a:ext cx="600075" cy="180975"/>
          </a:xfrm>
          <a:prstGeom prst="roundRect">
            <a:avLst>
              <a:gd name="adj" fmla="val 2105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96111" y="3087141"/>
            <a:ext cx="600075" cy="180975"/>
          </a:xfrm>
          <a:prstGeom prst="roundRect">
            <a:avLst>
              <a:gd name="adj" fmla="val 2105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52643" y="3087141"/>
            <a:ext cx="609600" cy="180975"/>
          </a:xfrm>
          <a:prstGeom prst="roundRect">
            <a:avLst>
              <a:gd name="adj" fmla="val 2105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318700" y="3087141"/>
            <a:ext cx="600075" cy="180975"/>
          </a:xfrm>
          <a:prstGeom prst="roundRect">
            <a:avLst>
              <a:gd name="adj" fmla="val 21052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819" y="3320504"/>
            <a:ext cx="1047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114" y="3320504"/>
            <a:ext cx="1047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408" y="3320504"/>
            <a:ext cx="104775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703" y="3320504"/>
            <a:ext cx="104775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04 /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143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Request Lifecycle &amp; Flow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5821858"/>
            <a:ext cx="105727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Error Handling Integration: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Unhandled routes trigger a structured 404 JSON handler. Runtime operational errors pass through centralized error middleware.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372" y="3106191"/>
            <a:ext cx="714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895" y="3344316"/>
            <a:ext cx="20053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Client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641" y="3582441"/>
            <a:ext cx="190983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Postman / HTTP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8141" y="3106191"/>
            <a:ext cx="733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2189" y="3344316"/>
            <a:ext cx="20053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Express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9935" y="3582441"/>
            <a:ext cx="190983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CORS + JSON Parsing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9436" y="3106191"/>
            <a:ext cx="733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3484" y="3344316"/>
            <a:ext cx="20053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1230" y="3582441"/>
            <a:ext cx="190983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SKU &amp; Schema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5968" y="3106191"/>
            <a:ext cx="742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4778" y="3344316"/>
            <a:ext cx="20053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Product 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2524" y="3582441"/>
            <a:ext cx="190983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In-Memory Array 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2025" y="3106191"/>
            <a:ext cx="733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Plus Jakarta Sans"/>
              </a:rPr>
              <a:t>STEP 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6073" y="3344316"/>
            <a:ext cx="20053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4532D"/>
                </a:solidFill>
                <a:latin typeface="Plus Jakarta Sans"/>
              </a:rPr>
              <a:t>JSON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3819" y="3582441"/>
            <a:ext cx="190983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15803D"/>
                </a:solidFill>
                <a:latin typeface="Plus Jakarta Sans"/>
              </a:rPr>
              <a:t>200 OK / 404 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66962"/>
            <a:ext cx="539115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366962"/>
            <a:ext cx="539115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767137"/>
            <a:ext cx="539115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767137"/>
            <a:ext cx="539115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28900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62890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02907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029075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05 /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0" y="6200775"/>
            <a:ext cx="1295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All responses conform to standardized RESTful JSON formats with explicit status codes.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143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API Capabilities &amp;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919412"/>
            <a:ext cx="50101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Create products with unique IDs and auto-generated timestamps. Full update and delete capabilities.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2919412"/>
            <a:ext cx="50101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Filter instantly by category (e.g. Dairy, Bakery) and partial keyword text search on product names.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319587"/>
            <a:ext cx="50101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Queries stock levels below user-defined parameter thresholds (e.g. 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?threshold=10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) for restocking.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319587"/>
            <a:ext cx="50101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Detects items expiring within a configurable day window (e.g. 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?days=7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) to prevent inventory rot.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2605087"/>
            <a:ext cx="276284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Product Catalog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175" y="2605087"/>
            <a:ext cx="25503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Multi-Query Filtering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525" y="4005262"/>
            <a:ext cx="338792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Low-Stock Threshold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4005262"/>
            <a:ext cx="256282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Expiry Window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73919"/>
            <a:ext cx="5562600" cy="3138785"/>
          </a:xfrm>
          <a:prstGeom prst="roundRect">
            <a:avLst>
              <a:gd name="adj" fmla="val 364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77000" y="2076450"/>
            <a:ext cx="5105400" cy="942975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77000" y="3171825"/>
            <a:ext cx="5105400" cy="942975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77000" y="4267200"/>
            <a:ext cx="5105400" cy="942975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06 / Codebase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219825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Strict Separation of Concerns (SoC) ensures easy maintenance and smooth unit test isolation.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Project Directory &amp; Modular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302519"/>
            <a:ext cx="638175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Fira Code"/>
              </a:rPr>
              <a:t>retail-inventory-api/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2546300"/>
            <a:ext cx="619125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Fira Code"/>
              </a:rPr>
              <a:t>├── src/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2790080"/>
            <a:ext cx="600075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Fira Code"/>
              </a:rPr>
              <a:t>├── data/ </a:t>
            </a:r>
            <a:r>
              <a:rPr b="0" sz="1200" i="0" u="none">
                <a:solidFill>
                  <a:srgbClr val="64748B"/>
                </a:solidFill>
                <a:latin typeface="Fira Code"/>
              </a:rPr>
              <a:t>→ productStore.js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033861"/>
            <a:ext cx="48196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Fira Code"/>
              </a:rPr>
              <a:t>├── middleware/ </a:t>
            </a:r>
            <a:r>
              <a:rPr b="0" sz="1200" i="0" u="none">
                <a:solidFill>
                  <a:srgbClr val="64748B"/>
                </a:solidFill>
                <a:latin typeface="Fira Code"/>
              </a:rPr>
              <a:t>→ validateProduct.js, errorHandler.js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521422"/>
            <a:ext cx="600075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Fira Code"/>
              </a:rPr>
              <a:t>├── routes/ </a:t>
            </a:r>
            <a:r>
              <a:rPr b="0" sz="1200" i="0" u="none">
                <a:solidFill>
                  <a:srgbClr val="64748B"/>
                </a:solidFill>
                <a:latin typeface="Fira Code"/>
              </a:rPr>
              <a:t>→ productRoutes.js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765202"/>
            <a:ext cx="600075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DE80"/>
                </a:solidFill>
                <a:latin typeface="Fira Code"/>
              </a:rPr>
              <a:t>└── server.js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4008983"/>
            <a:ext cx="619125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Fira Code"/>
              </a:rPr>
              <a:t>├── tests/ </a:t>
            </a:r>
            <a:r>
              <a:rPr b="0" sz="1200" i="0" u="none">
                <a:solidFill>
                  <a:srgbClr val="64748B"/>
                </a:solidFill>
                <a:latin typeface="Fira Code"/>
              </a:rPr>
              <a:t>→ 33 Jest Unit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4252763"/>
            <a:ext cx="619125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Fira Code"/>
              </a:rPr>
              <a:t>├── postman/ </a:t>
            </a:r>
            <a:r>
              <a:rPr b="0" sz="1200" i="0" u="none">
                <a:solidFill>
                  <a:srgbClr val="64748B"/>
                </a:solidFill>
                <a:latin typeface="Fira Code"/>
              </a:rPr>
              <a:t>→ API Collection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496544"/>
            <a:ext cx="619125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Fira Code"/>
              </a:rPr>
              <a:t>├── package.json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740324"/>
            <a:ext cx="619125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Fira Code"/>
              </a:rPr>
              <a:t>└── 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2238375"/>
            <a:ext cx="5514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src/server.js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2457450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Application entry point; mounts CORS, body parsers, and global error handlers.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3333750"/>
            <a:ext cx="5514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src/routes/productRoutes.js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3552825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Declares endpoints for CRUD operations, search filters, and alert triggers.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4429125"/>
            <a:ext cx="5514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src/middleware/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7025" y="4648200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Validates body parameters, SKU uniqueness, date formats, and centralizes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340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63617" y="2024062"/>
            <a:ext cx="5018782" cy="3028950"/>
          </a:xfrm>
          <a:prstGeom prst="roundRect">
            <a:avLst>
              <a:gd name="adj" fmla="val 3773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87442" y="2171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892" y="2171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30342" y="2171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3900" y="2786062"/>
            <a:ext cx="361950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3900" y="3128962"/>
            <a:ext cx="361950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3900" y="3471862"/>
            <a:ext cx="438150" cy="1905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3900" y="3814762"/>
            <a:ext cx="342900" cy="1905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3900" y="4157662"/>
            <a:ext cx="571500" cy="1905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3900" y="4500562"/>
            <a:ext cx="361950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442" y="2452687"/>
            <a:ext cx="4771132" cy="24765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9600" y="2328862"/>
          <a:ext cx="5725416" cy="24193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05457"/>
                <a:gridCol w="1994743"/>
                <a:gridCol w="1841301"/>
                <a:gridCol w="1083915"/>
              </a:tblGrid>
              <a:tr h="345621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Endpoint Route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Function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45621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Fira Code"/>
                        </a:rPr>
                        <a:t>/health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Service status 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200 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5621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Fira Code"/>
                        </a:rPr>
                        <a:t>/api/products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List &amp; query products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200 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5621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Fira Code"/>
                        </a:rPr>
                        <a:t>/api/products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Create product record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201 Created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5621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Fira Code"/>
                        </a:rPr>
                        <a:t>/api/products/:id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Update stock or details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200 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5621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Fira Code"/>
                        </a:rPr>
                        <a:t>/api/products/:id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Remove product item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200 / 204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5624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Fira Code"/>
                        </a:rPr>
                        <a:t>/api/products/low-stock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Alert query filter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200 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07 / Specifications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143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API Endpoints &amp; Postman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6076950"/>
            <a:ext cx="7227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Postman Collection Execution: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Verified live endpoint responses and JSON payloads.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6950" y="6076950"/>
            <a:ext cx="1869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Plus Jakarta Sans"/>
              </a:rPr>
              <a:t>Latency: ~40–130ms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7992" y="2147887"/>
            <a:ext cx="2655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Postman API Request &amp; Response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2805112"/>
            <a:ext cx="342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5803D"/>
                </a:solidFill>
                <a:latin typeface="Plus Jakarta Sans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3148012"/>
            <a:ext cx="342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5803D"/>
                </a:solidFill>
                <a:latin typeface="Plus Jakarta Sans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3490912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D4ED8"/>
                </a:solidFill>
                <a:latin typeface="Plus Jakarta Sans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050" y="3833812"/>
            <a:ext cx="323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Plus Jakarta Sans"/>
              </a:rPr>
              <a:t>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50" y="4176712"/>
            <a:ext cx="552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91C1C"/>
                </a:solidFill>
                <a:latin typeface="Plus Jakarta Sans"/>
              </a:rPr>
              <a:t>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050" y="4519612"/>
            <a:ext cx="342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5803D"/>
                </a:solidFill>
                <a:latin typeface="Plus Jakarta Sans"/>
              </a:rPr>
              <a:t>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5312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6535" y="2081212"/>
            <a:ext cx="5725864" cy="2933700"/>
          </a:xfrm>
          <a:prstGeom prst="roundRect">
            <a:avLst>
              <a:gd name="adj" fmla="val 3896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271712"/>
            <a:ext cx="4980235" cy="102870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452812"/>
            <a:ext cx="4980235" cy="609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214812"/>
            <a:ext cx="4980235" cy="609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80360" y="2205037"/>
            <a:ext cx="5478214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452812"/>
            <a:ext cx="38100" cy="609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214812"/>
            <a:ext cx="38100" cy="609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0360" y="2424112"/>
            <a:ext cx="54782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360" y="2209800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360" y="2509837"/>
            <a:ext cx="5478214" cy="2381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08 /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143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Quality Assurance &amp; Postman Test Runner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297656" y="6086475"/>
            <a:ext cx="12787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34155"/>
                </a:solidFill>
                <a:latin typeface="Plus Jakarta Sans"/>
              </a:rPr>
              <a:t>Automated test suite verified green build across all 33 endpoint assertions in Postman.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2481262"/>
            <a:ext cx="10287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16A34A"/>
                </a:solidFill>
                <a:latin typeface="Plus Jakarta Sans"/>
              </a:rPr>
              <a:t>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567112"/>
            <a:ext cx="60865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SKU Uniqueness &amp; Schema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767137"/>
            <a:ext cx="579666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Validates duplicate SKU rejection and parameter type constraints.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4329112"/>
            <a:ext cx="60865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404 &amp; Error Middleware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4529137"/>
            <a:ext cx="579666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Catches invalid routes and standardizes error responses.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0860" y="2205037"/>
            <a:ext cx="2678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Postman Collection Test Runner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0700" y="2557462"/>
            <a:ext cx="33694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5803D"/>
                </a:solidFill>
                <a:latin typeface="Plus Jakarta Sans"/>
              </a:rPr>
              <a:t>Automated Tests Passed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0700" y="2833687"/>
            <a:ext cx="33694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"/>
              </a:rPr>
              <a:t>100% test pass rate in Postman Runner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76925"/>
            <a:ext cx="109728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95525"/>
            <a:ext cx="5334000" cy="2428875"/>
          </a:xfrm>
          <a:prstGeom prst="roundRect">
            <a:avLst>
              <a:gd name="adj" fmla="val 470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295525"/>
            <a:ext cx="5334000" cy="2428875"/>
          </a:xfrm>
          <a:prstGeom prst="roundRect">
            <a:avLst>
              <a:gd name="adj" fmla="val 470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586037"/>
            <a:ext cx="20955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586037"/>
            <a:ext cx="20955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09 / Future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Current Boundaries &amp; Production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32171" y="6038850"/>
            <a:ext cx="12656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Next Engineering Milestone: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Implement ORM layer (Prisma or Mongoose) to transition from in-memory array to persistent database storage.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276725"/>
            <a:ext cx="5976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E123C"/>
                </a:solidFill>
                <a:latin typeface="Plus Jakarta Sans"/>
              </a:rPr>
              <a:t>DEMO PROTOTYPE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276725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FUTURE EXPANSION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2571750"/>
            <a:ext cx="233779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881337"/>
                </a:solidFill>
                <a:latin typeface="Plus Jakarta Sans"/>
              </a:rPr>
              <a:t>Current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962275"/>
            <a:ext cx="597693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9F1239"/>
                </a:solidFill>
                <a:latin typeface="Plus Jakarta Sans"/>
              </a:rPr>
              <a:t>• Volatile Storage:</a:t>
            </a:r>
            <a:r>
              <a:rPr b="0" sz="1275" i="0" u="none">
                <a:solidFill>
                  <a:srgbClr val="9F1239"/>
                </a:solidFill>
                <a:latin typeface="Plus Jakarta Sans"/>
              </a:rPr>
              <a:t> Data resets on server restart.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305175"/>
            <a:ext cx="597693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9F1239"/>
                </a:solidFill>
                <a:latin typeface="Plus Jakarta Sans"/>
              </a:rPr>
              <a:t>• No Authentication:</a:t>
            </a:r>
            <a:r>
              <a:rPr b="0" sz="1275" i="0" u="none">
                <a:solidFill>
                  <a:srgbClr val="9F1239"/>
                </a:solidFill>
                <a:latin typeface="Plus Jakarta Sans"/>
              </a:rPr>
              <a:t> Unrestricted route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648075"/>
            <a:ext cx="597693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9F1239"/>
                </a:solidFill>
                <a:latin typeface="Plus Jakarta Sans"/>
              </a:rPr>
              <a:t>• No Frontend UI:</a:t>
            </a:r>
            <a:r>
              <a:rPr b="0" sz="1275" i="0" u="none">
                <a:solidFill>
                  <a:srgbClr val="9F1239"/>
                </a:solidFill>
                <a:latin typeface="Plus Jakarta Sans"/>
              </a:rPr>
              <a:t> API interface only via Postman.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9425" y="2571750"/>
            <a:ext cx="256282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4532D"/>
                </a:solidFill>
                <a:latin typeface="Plus Jakarta Sans"/>
              </a:rPr>
              <a:t>Production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2962275"/>
            <a:ext cx="48768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66534"/>
                </a:solidFill>
                <a:latin typeface="Plus Jakarta Sans"/>
              </a:rPr>
              <a:t>• Database Integration:</a:t>
            </a:r>
            <a:r>
              <a:rPr b="0" sz="1275" i="0" u="none">
                <a:solidFill>
                  <a:srgbClr val="166534"/>
                </a:solidFill>
                <a:latin typeface="Plus Jakarta Sans"/>
              </a:rPr>
              <a:t> MongoDB / PostgreSQL persistent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514725"/>
            <a:ext cx="56673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66534"/>
                </a:solidFill>
                <a:latin typeface="Plus Jakarta Sans"/>
              </a:rPr>
              <a:t>• Security &amp; RBAC:</a:t>
            </a:r>
            <a:r>
              <a:rPr b="0" sz="1275" i="0" u="none">
                <a:solidFill>
                  <a:srgbClr val="166534"/>
                </a:solidFill>
                <a:latin typeface="Plus Jakarta Sans"/>
              </a:rPr>
              <a:t> JWT authentication &amp; role authorization.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3857625"/>
            <a:ext cx="48768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66534"/>
                </a:solidFill>
                <a:latin typeface="Plus Jakarta Sans"/>
              </a:rPr>
              <a:t>• Cloud Deployment:</a:t>
            </a:r>
            <a:r>
              <a:rPr b="0" sz="1275" i="0" u="none">
                <a:solidFill>
                  <a:srgbClr val="166534"/>
                </a:solidFill>
                <a:latin typeface="Plus Jakarta Sans"/>
              </a:rPr>
              <a:t> Docker containerization &amp; Render hosting.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09887" y="3857476"/>
            <a:ext cx="2952750" cy="552450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53137" y="3857476"/>
            <a:ext cx="3228975" cy="552450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112" y="4019401"/>
            <a:ext cx="21907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362" y="4019401"/>
            <a:ext cx="17145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44578" y="1828800"/>
            <a:ext cx="3702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PROJECT SHOWCASE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784" y="2181225"/>
            <a:ext cx="3450431" cy="594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2965995"/>
            <a:ext cx="8096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Retail Inventory and Expiry Management API — Built by Group 5C for Backend Development.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5343" y="4790926"/>
            <a:ext cx="28813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8BDF8"/>
                </a:solidFill>
                <a:latin typeface="Plus Jakarta Sans"/>
              </a:rPr>
              <a:t>Questions &amp; Comments?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1121" y="4024163"/>
            <a:ext cx="25836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GitHub Repository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6265" y="4024163"/>
            <a:ext cx="2988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Postman Collection Included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9775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https://us1.discourse-cdn.com/getpostman/optimized/2X/d/d722505d83665b9bc9cce607156b3725a11b0668_2_690x313.png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3107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community.postman.com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7381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https://assets.postman.com/postman-docs/v12/viewing-scheduled-collection-tests-v12-01.png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280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learning.postman.com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