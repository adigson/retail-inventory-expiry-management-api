
<file path=[Content_Types].xml><?xml version="1.0" encoding="utf-8"?>
<ns0:Types xmlns:ns0="http://schemas.openxmlformats.org/package/2006/content-types">
  <ns0:Default Extension="rels" ContentType="application/vnd.openxmlformats-package.relationships+xml"/>
  <ns0:Default Extension="xml" ContentType="application/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slideLayouts/slideLayout1.xml" ContentType="application/vnd.openxmlformats-officedocument.presentationml.slideLayout+xml"/>
  <ns0:Override PartName="/ppt/theme/theme1.xml" ContentType="application/vnd.openxmlformats-officedocument.theme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Default Extension="png" ContentType="image/png"/>
</ns0: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ns0:presentation xmlns:ns0="http://schemas.openxmlformats.org/presentationml/2006/main" xmlns:ns1="http://schemas.openxmlformats.org/officeDocument/2006/relationships">
  <ns0:sldMasterIdLst>
    <ns0:sldMasterId id="1" ns1:id="rId1"/>
  </ns0:sldMasterIdLst>
  <ns0:sldIdLst>
    <ns0:sldId id="256" ns1:id="rId2"/>
    <ns0:sldId id="257" ns1:id="rId3"/>
    <ns0:sldId id="258" ns1:id="rId4"/>
    <ns0:sldId id="259" ns1:id="rId5"/>
    <ns0:sldId id="260" ns1:id="rId6"/>
    <ns0:sldId id="261" ns1:id="rId7"/>
    <ns0:sldId id="262" ns1:id="rId8"/>
    <ns0:sldId id="263" ns1:id="rId9"/>
  </ns0:sldIdLst>
  <ns0:sldSz cx="12192000" cy="6858000" type="screen16x9"/>
  <ns0:notesSz cx="6858000" cy="9144000"/>
  <ns0:defaultTextStyle/>
</ns0:presentation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slide" Target="slides/slide1.xml" /><ns0:Relationship Id="rId3" Type="http://schemas.openxmlformats.org/officeDocument/2006/relationships/slide" Target="slides/slide2.xml" /><ns0:Relationship Id="rId4" Type="http://schemas.openxmlformats.org/officeDocument/2006/relationships/slide" Target="slides/slide3.xml" /><ns0:Relationship Id="rId5" Type="http://schemas.openxmlformats.org/officeDocument/2006/relationships/slide" Target="slides/slide4.xml" /><ns0:Relationship Id="rId6" Type="http://schemas.openxmlformats.org/officeDocument/2006/relationships/slide" Target="slides/slide5.xml" /><ns0:Relationship Id="rId7" Type="http://schemas.openxmlformats.org/officeDocument/2006/relationships/slide" Target="slides/slide6.xml" /><ns0:Relationship Id="rId8" Type="http://schemas.openxmlformats.org/officeDocument/2006/relationships/slide" Target="slides/slide7.xml" /><ns0:Relationship Id="rId9" Type="http://schemas.openxmlformats.org/officeDocument/2006/relationships/slide" Target="slides/slide8.xml" /></ns0:Relationships>
</file>

<file path=ppt/slideLayouts/_rels/slideLayout1.xml.rels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/>
    <p:bodyStyle/>
    <p:otherStyle/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image" Target="../media/group5c-health-check.png" /><ns0:Relationship Id="rId3" Type="http://schemas.openxmlformats.org/officeDocument/2006/relationships/image" Target="../media/group5c-product-list.png" /></ns0:Relationships>
</file>

<file path=ppt/slides/_rels/slide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image" Target="../media/group5c-product-filter-category-search.png" /><ns0:Relationship Id="rId3" Type="http://schemas.openxmlformats.org/officeDocument/2006/relationships/image" Target="../media/group5c-low-stock-alert.png" /></ns0:Relationships>
</file>

<file path=ppt/slides/_rels/slide8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image" Target="../media/group5c-unknown-route-404.png" /></ns0: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>
          <a:srgbClr val="1830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0"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6B7A5"/>
          </a:solidFill>
          <a:ln>
            <a:noFill/>
          </a:ln>
        </p:spPr>
      </p:sp>
      <p:sp>
        <p:nvSpPr>
          <p:cNvPr id="3" name="Shape 3"/>
          <p:cNvSpPr txBox="1"/>
          <p:nvPr/>
        </p:nvSpPr>
        <p:spPr>
          <a:xfrm>
            <a:off x="762000" y="787400"/>
            <a:ext cx="10160000" cy="35560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60000" bIns="60000" anchor="ctr"/>
          <a:lstStyle/>
          <a:p>
            <a:pPr/>
            <a:r>
              <a:rPr lang="en-US" sz="1300" b="1">
                <a:solidFill>
                  <a:srgbClr val="36B7A5"/>
                </a:solidFill>
                <a:latin typeface="Aptos"/>
              </a:rPr>
              <a:t>GROUP 5C  /  RETAIL SYSTEMS API PROJECT</a:t>
            </a:r>
            <a:endParaRPr lang="en-US" sz="1300"/>
          </a:p>
        </p:txBody>
      </p:sp>
      <p:sp>
        <p:nvSpPr>
          <p:cNvPr id="4" name="Shape 4"/>
          <p:cNvSpPr txBox="1"/>
          <p:nvPr/>
        </p:nvSpPr>
        <p:spPr>
          <a:xfrm>
            <a:off x="762000" y="1803400"/>
            <a:ext cx="10541000" cy="167640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60000" bIns="60000" anchor="ctr"/>
          <a:lstStyle/>
          <a:p>
            <a:pPr/>
            <a:r>
              <a:rPr lang="en-US" sz="3600" b="1">
                <a:solidFill>
                  <a:srgbClr val="FFFFFF"/>
                </a:solidFill>
                <a:latin typeface="Aptos"/>
              </a:rPr>
              <a:t>Retail Inventory and</a:t>
            </a:r>
            <a:endParaRPr lang="en-US" sz="3600"/>
          </a:p>
          <a:p>
            <a:pPr/>
            <a:r>
              <a:rPr lang="en-US" sz="3600" b="1">
                <a:solidFill>
                  <a:srgbClr val="FFFFFF"/>
                </a:solidFill>
                <a:latin typeface="Aptos"/>
              </a:rPr>
              <a:t>Expiry Management API</a:t>
            </a:r>
            <a:endParaRPr lang="en-US" sz="3600"/>
          </a:p>
        </p:txBody>
      </p:sp>
      <p:sp>
        <p:nvSpPr>
          <p:cNvPr id="5" name="Shape 5"/>
          <p:cNvSpPr txBox="1"/>
          <p:nvPr/>
        </p:nvSpPr>
        <p:spPr>
          <a:xfrm>
            <a:off x="787400" y="3708400"/>
            <a:ext cx="10160000" cy="53340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60000" bIns="60000" anchor="ctr"/>
          <a:lstStyle/>
          <a:p>
            <a:pPr/>
            <a:r>
              <a:rPr lang="en-US" sz="2000" b="0">
                <a:solidFill>
                  <a:srgbClr val="EAF2F6"/>
                </a:solidFill>
                <a:latin typeface="Aptos"/>
              </a:rPr>
              <a:t>Product records, stock visibility, and expiry alerts</a:t>
            </a:r>
            <a:endParaRPr lang="en-US" sz="2000"/>
          </a:p>
        </p:txBody>
      </p:sp>
      <p:sp>
        <p:nvSpPr>
          <p:cNvPr id="6" name="Shape 6"/>
          <p:cNvSpPr txBox="0"/>
          <p:nvPr/>
        </p:nvSpPr>
        <p:spPr>
          <a:xfrm>
            <a:off x="787400" y="4724400"/>
            <a:ext cx="1168400" cy="63500"/>
          </a:xfrm>
          <a:prstGeom prst="rect">
            <a:avLst/>
          </a:prstGeom>
          <a:solidFill>
            <a:srgbClr val="F2B544"/>
          </a:solidFill>
          <a:ln>
            <a:noFill/>
          </a:ln>
        </p:spPr>
      </p:sp>
      <p:sp>
        <p:nvSpPr>
          <p:cNvPr id="7" name="Shape 7"/>
          <p:cNvSpPr txBox="1"/>
          <p:nvPr/>
        </p:nvSpPr>
        <p:spPr>
          <a:xfrm>
            <a:off x="787400" y="50800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60000" bIns="60000" anchor="ctr"/>
          <a:lstStyle/>
          <a:p>
            <a:pPr/>
            <a:r>
              <a:rPr lang="en-US" sz="1600" b="0">
                <a:solidFill>
                  <a:srgbClr val="FFFFFF"/>
                </a:solidFill>
                <a:latin typeface="Aptos"/>
              </a:rPr>
              <a:t>GROUP 5C  |  PROJECT TEAM</a:t>
            </a:r>
            <a:endParaRPr lang="en-US" sz="1600"/>
          </a:p>
        </p:txBody>
      </p:sp>
      <p:sp>
        <p:nvSpPr>
          <p:cNvPr id="8" name="Shape 8"/>
          <p:cNvSpPr txBox="1"/>
          <p:nvPr/>
        </p:nvSpPr>
        <p:spPr>
          <a:xfrm>
            <a:off x="787400" y="6096000"/>
            <a:ext cx="1016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60000" bIns="60000" anchor="ctr"/>
          <a:lstStyle/>
          <a:p>
            <a:pPr/>
            <a:r>
              <a:rPr lang="en-US" sz="1200" b="0">
                <a:solidFill>
                  <a:srgbClr val="EAF2F6"/>
                </a:solidFill>
                <a:latin typeface="Aptos"/>
              </a:rPr>
              <a:t>Express REST API  |  Demo presentation</a:t>
            </a:r>
            <a:endParaRPr lang="en-US" sz="1200"/>
          </a:p>
        </p:txBody>
      </p:sp>
      <p:sp>
        <p:nvSpPr>
          <p:cNvPr id="9" name="Group 5c team members - left"/>
          <p:cNvSpPr txBox="1"/>
          <p:nvPr/>
        </p:nvSpPr>
        <p:spPr>
          <a:xfrm>
            <a:off x="603504" y="4416552"/>
            <a:ext cx="525780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/>
            <a:r>
              <a:rPr lang="en-US" sz="1250" b="0">
                <a:solidFill>
                  <a:srgbClr val="FFFFFF"/>
                </a:solidFill>
                <a:latin typeface="Aptos"/>
              </a:rPr>
              <a:t>David Oladele</a:t>
            </a:r>
            <a:endParaRPr lang="en-US" sz="1250"/>
          </a:p>
          <a:p>
            <a:pPr/>
            <a:r>
              <a:rPr lang="en-US" sz="1250" b="0">
                <a:solidFill>
                  <a:srgbClr val="FFFFFF"/>
                </a:solidFill>
                <a:latin typeface="Aptos"/>
              </a:rPr>
              <a:t>Musibau BOLAJI (Adigson)</a:t>
            </a:r>
            <a:endParaRPr lang="en-US" sz="1250"/>
          </a:p>
          <a:p>
            <a:pPr/>
            <a:r>
              <a:rPr lang="en-US" sz="1250" b="0">
                <a:solidFill>
                  <a:srgbClr val="FFFFFF"/>
                </a:solidFill>
                <a:latin typeface="Aptos"/>
              </a:rPr>
              <a:t>Precious Chisom</a:t>
            </a:r>
            <a:endParaRPr lang="en-US" sz="1250"/>
          </a:p>
          <a:p>
            <a:pPr/>
            <a:r>
              <a:rPr lang="en-US" sz="1250" b="0">
                <a:solidFill>
                  <a:srgbClr val="FFFFFF"/>
                </a:solidFill>
                <a:latin typeface="Aptos"/>
              </a:rPr>
              <a:t>Jamila Umar Adam</a:t>
            </a:r>
            <a:endParaRPr lang="en-US" sz="1250"/>
          </a:p>
        </p:txBody>
      </p:sp>
      <p:sp>
        <p:nvSpPr>
          <p:cNvPr id="10" name="Group 5c team members - right"/>
          <p:cNvSpPr txBox="1"/>
          <p:nvPr/>
        </p:nvSpPr>
        <p:spPr>
          <a:xfrm>
            <a:off x="6144768" y="4416552"/>
            <a:ext cx="525780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/>
            <a:r>
              <a:rPr lang="en-US" sz="1250" b="0">
                <a:solidFill>
                  <a:srgbClr val="FFFFFF"/>
                </a:solidFill>
                <a:latin typeface="Aptos"/>
              </a:rPr>
              <a:t>Okwara Godfrey</a:t>
            </a:r>
            <a:endParaRPr lang="en-US" sz="1250"/>
          </a:p>
          <a:p>
            <a:pPr/>
            <a:r>
              <a:rPr lang="en-US" sz="1250" b="0">
                <a:solidFill>
                  <a:srgbClr val="FFFFFF"/>
                </a:solidFill>
                <a:latin typeface="Aptos"/>
              </a:rPr>
              <a:t>Ezekiel Micheal Danlami</a:t>
            </a:r>
            <a:endParaRPr lang="en-US" sz="1250"/>
          </a:p>
          <a:p>
            <a:pPr/>
            <a:r>
              <a:rPr lang="en-US" sz="1250" b="0">
                <a:solidFill>
                  <a:srgbClr val="FFFFFF"/>
                </a:solidFill>
                <a:latin typeface="Aptos"/>
              </a:rPr>
              <a:t>Noah Fater Kusa</a:t>
            </a:r>
            <a:endParaRPr lang="en-US" sz="1250"/>
          </a:p>
          <a:p>
            <a:pPr/>
            <a:r>
              <a:rPr lang="en-US" sz="1250" b="0">
                <a:solidFill>
                  <a:srgbClr val="FFFFFF"/>
                </a:solidFill>
                <a:latin typeface="Aptos"/>
              </a:rPr>
              <a:t>Yahaya Sheidu</a:t>
            </a:r>
            <a:endParaRPr lang="en-US" sz="12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533400" y="279400"/>
            <a:ext cx="1079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60000" bIns="60000" anchor="ctr"/>
          <a:lstStyle/>
          <a:p>
            <a:pPr/>
            <a:r>
              <a:rPr lang="en-US" sz="1100" b="1">
                <a:solidFill>
                  <a:srgbClr val="36B7A5"/>
                </a:solidFill>
                <a:latin typeface="Aptos"/>
              </a:rPr>
              <a:t>01 / PROBLEM AND GOAL</a:t>
            </a:r>
            <a:endParaRPr lang="en-US" sz="1100"/>
          </a:p>
        </p:txBody>
      </p:sp>
      <p:sp>
        <p:nvSpPr>
          <p:cNvPr id="3" name="Shape 3"/>
          <p:cNvSpPr txBox="1"/>
          <p:nvPr/>
        </p:nvSpPr>
        <p:spPr>
          <a:xfrm>
            <a:off x="533400" y="635000"/>
            <a:ext cx="11176000" cy="66040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60000" bIns="60000" anchor="ctr"/>
          <a:lstStyle/>
          <a:p>
            <a:pPr/>
            <a:r>
              <a:rPr lang="en-US" sz="2700" b="1">
                <a:solidFill>
                  <a:srgbClr val="18304A"/>
                </a:solidFill>
                <a:latin typeface="Aptos"/>
              </a:rPr>
              <a:t>Why this API?</a:t>
            </a:r>
            <a:endParaRPr lang="en-US" sz="2700"/>
          </a:p>
        </p:txBody>
      </p:sp>
      <p:sp>
        <p:nvSpPr>
          <p:cNvPr id="4" name="Shape 4"/>
          <p:cNvSpPr txBox="0"/>
          <p:nvPr/>
        </p:nvSpPr>
        <p:spPr>
          <a:xfrm>
            <a:off x="533400" y="1371600"/>
            <a:ext cx="914400" cy="50800"/>
          </a:xfrm>
          <a:prstGeom prst="rect">
            <a:avLst/>
          </a:prstGeom>
          <a:solidFill>
            <a:srgbClr val="36B7A5"/>
          </a:solidFill>
          <a:ln>
            <a:noFill/>
          </a:ln>
        </p:spPr>
      </p:sp>
      <p:sp>
        <p:nvSpPr>
          <p:cNvPr id="5" name="Shape 5"/>
          <p:cNvSpPr txBox="0"/>
          <p:nvPr/>
        </p:nvSpPr>
        <p:spPr>
          <a:xfrm>
            <a:off x="533400" y="1905000"/>
            <a:ext cx="3429000" cy="2921000"/>
          </a:xfrm>
          <a:prstGeom prst="rect">
            <a:avLst/>
          </a:prstGeom>
          <a:solidFill>
            <a:srgbClr val="EAF2F6"/>
          </a:solidFill>
          <a:ln>
            <a:noFill/>
          </a:ln>
        </p:spPr>
      </p:sp>
      <p:sp>
        <p:nvSpPr>
          <p:cNvPr id="6" name="Shape 6"/>
          <p:cNvSpPr txBox="0"/>
          <p:nvPr/>
        </p:nvSpPr>
        <p:spPr>
          <a:xfrm>
            <a:off x="533400" y="1905000"/>
            <a:ext cx="3429000" cy="88900"/>
          </a:xfrm>
          <a:prstGeom prst="rect">
            <a:avLst/>
          </a:prstGeom>
          <a:solidFill>
            <a:srgbClr val="36B7A5"/>
          </a:solidFill>
          <a:ln>
            <a:noFill/>
          </a:ln>
        </p:spPr>
      </p:sp>
      <p:sp>
        <p:nvSpPr>
          <p:cNvPr id="7" name="Shape 7"/>
          <p:cNvSpPr txBox="1"/>
          <p:nvPr/>
        </p:nvSpPr>
        <p:spPr>
          <a:xfrm>
            <a:off x="762000" y="2298700"/>
            <a:ext cx="2921000" cy="60960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60000" bIns="60000" anchor="ctr"/>
          <a:lstStyle/>
          <a:p>
            <a:pPr/>
            <a:r>
              <a:rPr lang="en-US" sz="1900" b="1">
                <a:solidFill>
                  <a:srgbClr val="18304A"/>
                </a:solidFill>
                <a:latin typeface="Aptos"/>
              </a:rPr>
              <a:t>Inventory blind spots</a:t>
            </a:r>
            <a:endParaRPr lang="en-US" sz="1900"/>
          </a:p>
        </p:txBody>
      </p:sp>
      <p:sp>
        <p:nvSpPr>
          <p:cNvPr id="8" name="Shape 8"/>
          <p:cNvSpPr txBox="1"/>
          <p:nvPr/>
        </p:nvSpPr>
        <p:spPr>
          <a:xfrm>
            <a:off x="762000" y="3048000"/>
            <a:ext cx="2921000" cy="152400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60000" bIns="60000" anchor="ctr"/>
          <a:lstStyle/>
          <a:p>
            <a:pPr/>
            <a:r>
              <a:rPr lang="en-US" sz="1600" b="0">
                <a:solidFill>
                  <a:srgbClr val="243746"/>
                </a:solidFill>
                <a:latin typeface="Aptos"/>
              </a:rPr>
              <a:t>Hard-to-search records make it easier to miss stockouts and products nearing expiry.</a:t>
            </a:r>
            <a:endParaRPr lang="en-US" sz="1600"/>
          </a:p>
        </p:txBody>
      </p:sp>
      <p:sp>
        <p:nvSpPr>
          <p:cNvPr id="8" name="Shape 8"/>
          <p:cNvSpPr txBox="0"/>
          <p:nvPr/>
        </p:nvSpPr>
        <p:spPr>
          <a:xfrm>
            <a:off x="4419600" y="1905000"/>
            <a:ext cx="3429000" cy="2921000"/>
          </a:xfrm>
          <a:prstGeom prst="rect">
            <a:avLst/>
          </a:prstGeom>
          <a:solidFill>
            <a:srgbClr val="EAF2F6"/>
          </a:solidFill>
          <a:ln>
            <a:noFill/>
          </a:ln>
        </p:spPr>
      </p:sp>
      <p:sp>
        <p:nvSpPr>
          <p:cNvPr id="9" name="Shape 9"/>
          <p:cNvSpPr txBox="0"/>
          <p:nvPr/>
        </p:nvSpPr>
        <p:spPr>
          <a:xfrm>
            <a:off x="4419600" y="1905000"/>
            <a:ext cx="3429000" cy="88900"/>
          </a:xfrm>
          <a:prstGeom prst="rect">
            <a:avLst/>
          </a:prstGeom>
          <a:solidFill>
            <a:srgbClr val="36B7A5"/>
          </a:solidFill>
          <a:ln>
            <a:noFill/>
          </a:ln>
        </p:spPr>
      </p:sp>
      <p:sp>
        <p:nvSpPr>
          <p:cNvPr id="10" name="Shape 10"/>
          <p:cNvSpPr txBox="1"/>
          <p:nvPr/>
        </p:nvSpPr>
        <p:spPr>
          <a:xfrm>
            <a:off x="4648200" y="2298700"/>
            <a:ext cx="2921000" cy="60960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60000" bIns="60000" anchor="ctr"/>
          <a:lstStyle/>
          <a:p>
            <a:pPr/>
            <a:r>
              <a:rPr lang="en-US" sz="1900" b="1">
                <a:solidFill>
                  <a:srgbClr val="18304A"/>
                </a:solidFill>
                <a:latin typeface="Aptos"/>
              </a:rPr>
              <a:t>One product service</a:t>
            </a:r>
            <a:endParaRPr lang="en-US" sz="1900"/>
          </a:p>
        </p:txBody>
      </p:sp>
      <p:sp>
        <p:nvSpPr>
          <p:cNvPr id="11" name="Shape 11"/>
          <p:cNvSpPr txBox="1"/>
          <p:nvPr/>
        </p:nvSpPr>
        <p:spPr>
          <a:xfrm>
            <a:off x="4648200" y="3048000"/>
            <a:ext cx="2921000" cy="152400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60000" bIns="60000" anchor="ctr"/>
          <a:lstStyle/>
          <a:p>
            <a:pPr/>
            <a:r>
              <a:rPr lang="en-US" sz="1600" b="0">
                <a:solidFill>
                  <a:srgbClr val="243746"/>
                </a:solidFill>
                <a:latin typeface="Aptos"/>
              </a:rPr>
              <a:t>A REST API supports creating, viewing, updating, deleting, and searching product records.</a:t>
            </a:r>
            <a:endParaRPr lang="en-US" sz="1600"/>
          </a:p>
        </p:txBody>
      </p:sp>
      <p:sp>
        <p:nvSpPr>
          <p:cNvPr id="11" name="Shape 11"/>
          <p:cNvSpPr txBox="0"/>
          <p:nvPr/>
        </p:nvSpPr>
        <p:spPr>
          <a:xfrm>
            <a:off x="8305800" y="1905000"/>
            <a:ext cx="3429000" cy="2921000"/>
          </a:xfrm>
          <a:prstGeom prst="rect">
            <a:avLst/>
          </a:prstGeom>
          <a:solidFill>
            <a:srgbClr val="EAF2F6"/>
          </a:solidFill>
          <a:ln>
            <a:noFill/>
          </a:ln>
        </p:spPr>
      </p:sp>
      <p:sp>
        <p:nvSpPr>
          <p:cNvPr id="12" name="Shape 12"/>
          <p:cNvSpPr txBox="0"/>
          <p:nvPr/>
        </p:nvSpPr>
        <p:spPr>
          <a:xfrm>
            <a:off x="8305800" y="1905000"/>
            <a:ext cx="3429000" cy="88900"/>
          </a:xfrm>
          <a:prstGeom prst="rect">
            <a:avLst/>
          </a:prstGeom>
          <a:solidFill>
            <a:srgbClr val="36B7A5"/>
          </a:solidFill>
          <a:ln>
            <a:noFill/>
          </a:ln>
        </p:spPr>
      </p:sp>
      <p:sp>
        <p:nvSpPr>
          <p:cNvPr id="13" name="Shape 13"/>
          <p:cNvSpPr txBox="1"/>
          <p:nvPr/>
        </p:nvSpPr>
        <p:spPr>
          <a:xfrm>
            <a:off x="8534400" y="2298700"/>
            <a:ext cx="2921000" cy="60960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60000" bIns="60000" anchor="ctr"/>
          <a:lstStyle/>
          <a:p>
            <a:pPr/>
            <a:r>
              <a:rPr lang="en-US" sz="1900" b="1">
                <a:solidFill>
                  <a:srgbClr val="18304A"/>
                </a:solidFill>
                <a:latin typeface="Aptos"/>
              </a:rPr>
              <a:t>Actionable alerts</a:t>
            </a:r>
            <a:endParaRPr lang="en-US" sz="1900"/>
          </a:p>
        </p:txBody>
      </p:sp>
      <p:sp>
        <p:nvSpPr>
          <p:cNvPr id="14" name="Shape 14"/>
          <p:cNvSpPr txBox="1"/>
          <p:nvPr/>
        </p:nvSpPr>
        <p:spPr>
          <a:xfrm>
            <a:off x="8534400" y="3048000"/>
            <a:ext cx="2921000" cy="152400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60000" bIns="60000" anchor="ctr"/>
          <a:lstStyle/>
          <a:p>
            <a:pPr/>
            <a:r>
              <a:rPr lang="en-US" sz="1600" b="0">
                <a:solidFill>
                  <a:srgbClr val="243746"/>
                </a:solidFill>
                <a:latin typeface="Aptos"/>
              </a:rPr>
              <a:t>Filter by low quantity or an upcoming expiry window to help staff prioritize checks.</a:t>
            </a:r>
            <a:endParaRPr lang="en-US" sz="1600"/>
          </a:p>
        </p:txBody>
      </p:sp>
      <p:sp>
        <p:nvSpPr>
          <p:cNvPr id="16" name="Shape 16"/>
          <p:cNvSpPr txBox="1"/>
          <p:nvPr/>
        </p:nvSpPr>
        <p:spPr>
          <a:xfrm>
            <a:off x="558800" y="5270500"/>
            <a:ext cx="1079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60000" bIns="60000" anchor="ctr"/>
          <a:lstStyle/>
          <a:p>
            <a:pPr/>
            <a:r>
              <a:rPr lang="en-US" sz="1800" b="1">
                <a:solidFill>
                  <a:srgbClr val="18304A"/>
                </a:solidFill>
                <a:latin typeface="Aptos"/>
              </a:rPr>
              <a:t>Goal: make basic retail inventory information easier to maintain and act on.</a:t>
            </a:r>
            <a:endParaRPr lang="en-US" sz="1800"/>
          </a:p>
        </p:txBody>
      </p:sp>
      <p:sp>
        <p:nvSpPr>
          <p:cNvPr id="17" name="Shape 17"/>
          <p:cNvSpPr txBox="1"/>
          <p:nvPr/>
        </p:nvSpPr>
        <p:spPr>
          <a:xfrm>
            <a:off x="482600" y="64516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60000" bIns="60000" anchor="ctr"/>
          <a:lstStyle/>
          <a:p>
            <a:pPr/>
            <a:r>
              <a:rPr lang="en-US" sz="1000" b="0">
                <a:solidFill>
                  <a:srgbClr val="607685"/>
                </a:solidFill>
                <a:latin typeface="Aptos"/>
              </a:rPr>
              <a:t>RETAIL INVENTORY API  |  GROUP 5C</a:t>
            </a:r>
            <a:endParaRPr lang="en-US" sz="1000"/>
          </a:p>
        </p:txBody>
      </p:sp>
      <p:sp>
        <p:nvSpPr>
          <p:cNvPr id="18" name="Shape 18"/>
          <p:cNvSpPr txBox="1"/>
          <p:nvPr/>
        </p:nvSpPr>
        <p:spPr>
          <a:xfrm>
            <a:off x="11607800" y="6451600"/>
            <a:ext cx="25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60000" bIns="60000" anchor="ctr"/>
          <a:lstStyle/>
          <a:p>
            <a:pPr/>
            <a:r>
              <a:rPr lang="en-US" sz="1000" b="0">
                <a:solidFill>
                  <a:srgbClr val="607685"/>
                </a:solidFill>
                <a:latin typeface="Aptos"/>
              </a:rPr>
              <a:t>2</a:t>
            </a:r>
            <a:endParaRPr 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533400" y="279400"/>
            <a:ext cx="1079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60000" bIns="60000" anchor="ctr"/>
          <a:lstStyle/>
          <a:p>
            <a:pPr/>
            <a:r>
              <a:rPr lang="en-US" sz="1100" b="1">
                <a:solidFill>
                  <a:srgbClr val="36B7A5"/>
                </a:solidFill>
                <a:latin typeface="Aptos"/>
              </a:rPr>
              <a:t>02 / ARCHITECTURE</a:t>
            </a:r>
            <a:endParaRPr lang="en-US" sz="1100"/>
          </a:p>
        </p:txBody>
      </p:sp>
      <p:sp>
        <p:nvSpPr>
          <p:cNvPr id="3" name="Shape 3"/>
          <p:cNvSpPr txBox="1"/>
          <p:nvPr/>
        </p:nvSpPr>
        <p:spPr>
          <a:xfrm>
            <a:off x="533400" y="635000"/>
            <a:ext cx="11176000" cy="66040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60000" bIns="60000" anchor="ctr"/>
          <a:lstStyle/>
          <a:p>
            <a:pPr/>
            <a:r>
              <a:rPr lang="en-US" sz="2700" b="1">
                <a:solidFill>
                  <a:srgbClr val="18304A"/>
                </a:solidFill>
                <a:latin typeface="Aptos"/>
              </a:rPr>
              <a:t>A small, focused request path</a:t>
            </a:r>
            <a:endParaRPr lang="en-US" sz="2700"/>
          </a:p>
        </p:txBody>
      </p:sp>
      <p:sp>
        <p:nvSpPr>
          <p:cNvPr id="4" name="Shape 4"/>
          <p:cNvSpPr txBox="0"/>
          <p:nvPr/>
        </p:nvSpPr>
        <p:spPr>
          <a:xfrm>
            <a:off x="533400" y="1371600"/>
            <a:ext cx="914400" cy="50800"/>
          </a:xfrm>
          <a:prstGeom prst="rect">
            <a:avLst/>
          </a:prstGeom>
          <a:solidFill>
            <a:srgbClr val="36B7A5"/>
          </a:solidFill>
          <a:ln>
            <a:noFill/>
          </a:ln>
        </p:spPr>
      </p:sp>
      <p:sp>
        <p:nvSpPr>
          <p:cNvPr id="5" name="Shape 5"/>
          <p:cNvSpPr txBox="0"/>
          <p:nvPr/>
        </p:nvSpPr>
        <p:spPr>
          <a:xfrm>
            <a:off x="533400" y="2667000"/>
            <a:ext cx="1968500" cy="1270000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txBody>
          <a:bodyPr wrap="square" lIns="90000" rIns="90000" tIns="60000" bIns="60000" anchor="ctr"/>
          <a:lstStyle/>
          <a:p>
            <a:pPr/>
            <a:r>
              <a:rPr lang="en-US" sz="1500" b="1">
                <a:solidFill>
                  <a:srgbClr val="18304A"/>
                </a:solidFill>
                <a:latin typeface="Aptos"/>
              </a:rPr>
              <a:t>API client</a:t>
            </a:r>
            <a:endParaRPr lang="en-US" sz="1500"/>
          </a:p>
          <a:p>
            <a:pPr/>
            <a:r>
              <a:rPr lang="en-US" sz="1500" b="1">
                <a:solidFill>
                  <a:srgbClr val="18304A"/>
                </a:solidFill>
                <a:latin typeface="Aptos"/>
              </a:rPr>
              <a:t>Postman / HTTP</a:t>
            </a:r>
            <a:endParaRPr lang="en-US" sz="1500"/>
          </a:p>
        </p:txBody>
      </p:sp>
      <p:sp>
        <p:nvSpPr>
          <p:cNvPr id="7" name="Shape 7"/>
          <p:cNvSpPr txBox="0"/>
          <p:nvPr/>
        </p:nvSpPr>
        <p:spPr>
          <a:xfrm>
            <a:off x="3035300" y="2667000"/>
            <a:ext cx="2413000" cy="1270000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txBody>
          <a:bodyPr wrap="square" lIns="90000" rIns="90000" tIns="60000" bIns="60000" anchor="ctr"/>
          <a:lstStyle/>
          <a:p>
            <a:pPr/>
            <a:r>
              <a:rPr lang="en-US" sz="1500" b="1">
                <a:solidFill>
                  <a:srgbClr val="18304A"/>
                </a:solidFill>
                <a:latin typeface="Aptos"/>
              </a:rPr>
              <a:t>Express app</a:t>
            </a:r>
            <a:endParaRPr lang="en-US" sz="1500"/>
          </a:p>
          <a:p>
            <a:pPr/>
            <a:r>
              <a:rPr lang="en-US" sz="1500" b="1">
                <a:solidFill>
                  <a:srgbClr val="18304A"/>
                </a:solidFill>
                <a:latin typeface="Aptos"/>
              </a:rPr>
              <a:t>CORS + JSON</a:t>
            </a:r>
            <a:endParaRPr lang="en-US" sz="1500"/>
          </a:p>
        </p:txBody>
      </p:sp>
      <p:sp>
        <p:nvSpPr>
          <p:cNvPr id="9" name="Shape 9"/>
          <p:cNvSpPr txBox="0"/>
          <p:nvPr/>
        </p:nvSpPr>
        <p:spPr>
          <a:xfrm>
            <a:off x="5981700" y="2667000"/>
            <a:ext cx="2413000" cy="1270000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txBody>
          <a:bodyPr wrap="square" lIns="90000" rIns="90000" tIns="60000" bIns="60000" anchor="ctr"/>
          <a:lstStyle/>
          <a:p>
            <a:pPr/>
            <a:r>
              <a:rPr lang="en-US" sz="1500" b="1">
                <a:solidFill>
                  <a:srgbClr val="18304A"/>
                </a:solidFill>
                <a:latin typeface="Aptos"/>
              </a:rPr>
              <a:t>Routes + validation</a:t>
            </a:r>
            <a:endParaRPr lang="en-US" sz="1500"/>
          </a:p>
          <a:p>
            <a:pPr/>
            <a:r>
              <a:rPr lang="en-US" sz="1500" b="1">
                <a:solidFill>
                  <a:srgbClr val="18304A"/>
                </a:solidFill>
                <a:latin typeface="Aptos"/>
              </a:rPr>
              <a:t>Health / products</a:t>
            </a:r>
            <a:endParaRPr lang="en-US" sz="1500"/>
          </a:p>
        </p:txBody>
      </p:sp>
      <p:sp>
        <p:nvSpPr>
          <p:cNvPr id="11" name="Shape 11"/>
          <p:cNvSpPr txBox="0"/>
          <p:nvPr/>
        </p:nvSpPr>
        <p:spPr>
          <a:xfrm>
            <a:off x="8928100" y="2667000"/>
            <a:ext cx="2603500" cy="1270000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txBody>
          <a:bodyPr wrap="square" lIns="90000" rIns="90000" tIns="60000" bIns="60000" anchor="ctr"/>
          <a:lstStyle/>
          <a:p>
            <a:pPr/>
            <a:r>
              <a:rPr lang="en-US" sz="1500" b="1">
                <a:solidFill>
                  <a:srgbClr val="18304A"/>
                </a:solidFill>
                <a:latin typeface="Aptos"/>
              </a:rPr>
              <a:t>In-memory store</a:t>
            </a:r>
            <a:endParaRPr lang="en-US" sz="1500"/>
          </a:p>
          <a:p>
            <a:pPr/>
            <a:r>
              <a:rPr lang="en-US" sz="1500" b="1">
                <a:solidFill>
                  <a:srgbClr val="18304A"/>
                </a:solidFill>
                <a:latin typeface="Aptos"/>
              </a:rPr>
              <a:t>Product records</a:t>
            </a:r>
            <a:endParaRPr lang="en-US" sz="1500"/>
          </a:p>
        </p:txBody>
      </p:sp>
      <p:sp>
        <p:nvSpPr>
          <p:cNvPr id="20" name="Shape 20"/>
          <p:cNvSpPr txBox="1"/>
          <p:nvPr/>
        </p:nvSpPr>
        <p:spPr>
          <a:xfrm>
            <a:off x="2565400" y="30988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60000" bIns="60000" anchor="ctr"/>
          <a:lstStyle/>
          <a:p>
            <a:pPr/>
            <a:r>
              <a:rPr lang="en-US" sz="2200" b="1">
                <a:solidFill>
                  <a:srgbClr val="36B7A5"/>
                </a:solidFill>
                <a:latin typeface="Aptos"/>
              </a:rPr>
              <a:t>?</a:t>
            </a:r>
            <a:endParaRPr lang="en-US" sz="2200"/>
          </a:p>
        </p:txBody>
      </p:sp>
      <p:sp>
        <p:nvSpPr>
          <p:cNvPr id="21" name="Shape 21"/>
          <p:cNvSpPr txBox="1"/>
          <p:nvPr/>
        </p:nvSpPr>
        <p:spPr>
          <a:xfrm>
            <a:off x="5499100" y="30988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60000" bIns="60000" anchor="ctr"/>
          <a:lstStyle/>
          <a:p>
            <a:pPr/>
            <a:r>
              <a:rPr lang="en-US" sz="2200" b="1">
                <a:solidFill>
                  <a:srgbClr val="36B7A5"/>
                </a:solidFill>
                <a:latin typeface="Aptos"/>
              </a:rPr>
              <a:t>?</a:t>
            </a:r>
            <a:endParaRPr lang="en-US" sz="2200"/>
          </a:p>
        </p:txBody>
      </p:sp>
      <p:sp>
        <p:nvSpPr>
          <p:cNvPr id="22" name="Shape 22"/>
          <p:cNvSpPr txBox="1"/>
          <p:nvPr/>
        </p:nvSpPr>
        <p:spPr>
          <a:xfrm>
            <a:off x="8445500" y="30988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60000" bIns="60000" anchor="ctr"/>
          <a:lstStyle/>
          <a:p>
            <a:pPr/>
            <a:r>
              <a:rPr lang="en-US" sz="2200" b="1">
                <a:solidFill>
                  <a:srgbClr val="36B7A5"/>
                </a:solidFill>
                <a:latin typeface="Aptos"/>
              </a:rPr>
              <a:t>?</a:t>
            </a:r>
            <a:endParaRPr lang="en-US" sz="2200"/>
          </a:p>
        </p:txBody>
      </p:sp>
      <p:sp>
        <p:nvSpPr>
          <p:cNvPr id="23" name="Shape 23"/>
          <p:cNvSpPr txBox="1"/>
          <p:nvPr/>
        </p:nvSpPr>
        <p:spPr>
          <a:xfrm>
            <a:off x="546100" y="4699000"/>
            <a:ext cx="1079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60000" bIns="60000" anchor="ctr"/>
          <a:lstStyle/>
          <a:p>
            <a:pPr/>
            <a:r>
              <a:rPr lang="en-US" sz="1600" b="0">
                <a:solidFill>
                  <a:srgbClr val="243746"/>
                </a:solidFill>
                <a:latin typeface="Aptos"/>
              </a:rPr>
              <a:t>Errors are returned as JSON; unknown paths use a 404 response.</a:t>
            </a:r>
            <a:endParaRPr lang="en-US" sz="1600"/>
          </a:p>
        </p:txBody>
      </p:sp>
      <p:sp>
        <p:nvSpPr>
          <p:cNvPr id="24" name="Shape 24"/>
          <p:cNvSpPr txBox="1"/>
          <p:nvPr/>
        </p:nvSpPr>
        <p:spPr>
          <a:xfrm>
            <a:off x="546100" y="5207000"/>
            <a:ext cx="1079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60000" bIns="60000" anchor="ctr"/>
          <a:lstStyle/>
          <a:p>
            <a:pPr/>
            <a:r>
              <a:rPr lang="en-US" sz="1600" b="1">
                <a:solidFill>
                  <a:srgbClr val="18304A"/>
                </a:solidFill>
                <a:latin typeface="Aptos"/>
              </a:rPr>
              <a:t>Data is held in memory and resets when the server restarts.</a:t>
            </a:r>
            <a:endParaRPr lang="en-US" sz="1600"/>
          </a:p>
        </p:txBody>
      </p:sp>
      <p:sp>
        <p:nvSpPr>
          <p:cNvPr id="25" name="Shape 25"/>
          <p:cNvSpPr txBox="1"/>
          <p:nvPr/>
        </p:nvSpPr>
        <p:spPr>
          <a:xfrm>
            <a:off x="482600" y="64516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60000" bIns="60000" anchor="ctr"/>
          <a:lstStyle/>
          <a:p>
            <a:pPr/>
            <a:r>
              <a:rPr lang="en-US" sz="1000" b="0">
                <a:solidFill>
                  <a:srgbClr val="607685"/>
                </a:solidFill>
                <a:latin typeface="Aptos"/>
              </a:rPr>
              <a:t>RETAIL INVENTORY API  |  GROUP 5C</a:t>
            </a:r>
            <a:endParaRPr lang="en-US" sz="1000"/>
          </a:p>
        </p:txBody>
      </p:sp>
      <p:sp>
        <p:nvSpPr>
          <p:cNvPr id="26" name="Shape 26"/>
          <p:cNvSpPr txBox="1"/>
          <p:nvPr/>
        </p:nvSpPr>
        <p:spPr>
          <a:xfrm>
            <a:off x="11607800" y="6451600"/>
            <a:ext cx="25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60000" bIns="60000" anchor="ctr"/>
          <a:lstStyle/>
          <a:p>
            <a:pPr/>
            <a:r>
              <a:rPr lang="en-US" sz="1000" b="0">
                <a:solidFill>
                  <a:srgbClr val="607685"/>
                </a:solidFill>
                <a:latin typeface="Aptos"/>
              </a:rPr>
              <a:t>3</a:t>
            </a:r>
            <a:endParaRPr lang="en-US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533400" y="279400"/>
            <a:ext cx="1079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60000" bIns="60000" anchor="ctr"/>
          <a:lstStyle/>
          <a:p>
            <a:pPr/>
            <a:r>
              <a:rPr lang="en-US" sz="1100" b="1">
                <a:solidFill>
                  <a:srgbClr val="36B7A5"/>
                </a:solidFill>
                <a:latin typeface="Aptos"/>
              </a:rPr>
              <a:t>03 / API DEMONSTRATION</a:t>
            </a:r>
            <a:endParaRPr lang="en-US" sz="1100"/>
          </a:p>
        </p:txBody>
      </p:sp>
      <p:sp>
        <p:nvSpPr>
          <p:cNvPr id="3" name="Shape 3"/>
          <p:cNvSpPr txBox="1"/>
          <p:nvPr/>
        </p:nvSpPr>
        <p:spPr>
          <a:xfrm>
            <a:off x="533400" y="635000"/>
            <a:ext cx="11176000" cy="66040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60000" bIns="60000" anchor="ctr"/>
          <a:lstStyle/>
          <a:p>
            <a:pPr/>
            <a:r>
              <a:rPr lang="en-US" sz="2700" b="1">
                <a:solidFill>
                  <a:srgbClr val="18304A"/>
                </a:solidFill>
                <a:latin typeface="Aptos"/>
              </a:rPr>
              <a:t>Demo flow in Postman</a:t>
            </a:r>
            <a:endParaRPr lang="en-US" sz="2700"/>
          </a:p>
        </p:txBody>
      </p:sp>
      <p:sp>
        <p:nvSpPr>
          <p:cNvPr id="4" name="Shape 4"/>
          <p:cNvSpPr txBox="0"/>
          <p:nvPr/>
        </p:nvSpPr>
        <p:spPr>
          <a:xfrm>
            <a:off x="533400" y="1371600"/>
            <a:ext cx="914400" cy="50800"/>
          </a:xfrm>
          <a:prstGeom prst="rect">
            <a:avLst/>
          </a:prstGeom>
          <a:solidFill>
            <a:srgbClr val="36B7A5"/>
          </a:solidFill>
          <a:ln>
            <a:noFill/>
          </a:ln>
        </p:spPr>
      </p:sp>
      <p:sp>
        <p:nvSpPr>
          <p:cNvPr id="5" name="Shape 5"/>
          <p:cNvSpPr txBox="0"/>
          <p:nvPr/>
        </p:nvSpPr>
        <p:spPr>
          <a:xfrm>
            <a:off x="609600" y="1866900"/>
            <a:ext cx="127000" cy="127000"/>
          </a:xfrm>
          <a:prstGeom prst="rect">
            <a:avLst/>
          </a:prstGeom>
          <a:solidFill>
            <a:srgbClr val="36B7A5"/>
          </a:solidFill>
          <a:ln>
            <a:noFill/>
          </a:ln>
        </p:spPr>
      </p:sp>
      <p:sp>
        <p:nvSpPr>
          <p:cNvPr id="6" name="Shape 6"/>
          <p:cNvSpPr txBox="1"/>
          <p:nvPr/>
        </p:nvSpPr>
        <p:spPr>
          <a:xfrm>
            <a:off x="965200" y="1714500"/>
            <a:ext cx="10287000" cy="48260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60000" bIns="60000" anchor="ctr"/>
          <a:lstStyle/>
          <a:p>
            <a:pPr/>
            <a:r>
              <a:rPr lang="en-US" sz="1700" b="0">
                <a:solidFill>
                  <a:srgbClr val="243746"/>
                </a:solidFill>
                <a:latin typeface="Aptos"/>
              </a:rPr>
              <a:t>GET  /health  ? service status (200)</a:t>
            </a:r>
            <a:endParaRPr lang="en-US" sz="1700"/>
          </a:p>
        </p:txBody>
      </p:sp>
      <p:sp>
        <p:nvSpPr>
          <p:cNvPr id="7" name="Shape 7"/>
          <p:cNvSpPr txBox="0"/>
          <p:nvPr/>
        </p:nvSpPr>
        <p:spPr>
          <a:xfrm>
            <a:off x="609600" y="2590800"/>
            <a:ext cx="127000" cy="127000"/>
          </a:xfrm>
          <a:prstGeom prst="rect">
            <a:avLst/>
          </a:prstGeom>
          <a:solidFill>
            <a:srgbClr val="36B7A5"/>
          </a:solidFill>
          <a:ln>
            <a:noFill/>
          </a:ln>
        </p:spPr>
      </p:sp>
      <p:sp>
        <p:nvSpPr>
          <p:cNvPr id="8" name="Shape 8"/>
          <p:cNvSpPr txBox="1"/>
          <p:nvPr/>
        </p:nvSpPr>
        <p:spPr>
          <a:xfrm>
            <a:off x="965200" y="2438400"/>
            <a:ext cx="10287000" cy="48260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60000" bIns="60000" anchor="ctr"/>
          <a:lstStyle/>
          <a:p>
            <a:pPr/>
            <a:r>
              <a:rPr lang="en-US" sz="1700" b="0">
                <a:solidFill>
                  <a:srgbClr val="243746"/>
                </a:solidFill>
                <a:latin typeface="Aptos"/>
              </a:rPr>
              <a:t>GET  /api/products?category=Dairy  ? filter products</a:t>
            </a:r>
            <a:endParaRPr lang="en-US" sz="1700"/>
          </a:p>
        </p:txBody>
      </p:sp>
      <p:sp>
        <p:nvSpPr>
          <p:cNvPr id="9" name="Shape 9"/>
          <p:cNvSpPr txBox="0"/>
          <p:nvPr/>
        </p:nvSpPr>
        <p:spPr>
          <a:xfrm>
            <a:off x="609600" y="3314700"/>
            <a:ext cx="127000" cy="127000"/>
          </a:xfrm>
          <a:prstGeom prst="rect">
            <a:avLst/>
          </a:prstGeom>
          <a:solidFill>
            <a:srgbClr val="36B7A5"/>
          </a:solidFill>
          <a:ln>
            <a:noFill/>
          </a:ln>
        </p:spPr>
      </p:sp>
      <p:sp>
        <p:nvSpPr>
          <p:cNvPr id="10" name="Shape 10"/>
          <p:cNvSpPr txBox="1"/>
          <p:nvPr/>
        </p:nvSpPr>
        <p:spPr>
          <a:xfrm>
            <a:off x="965200" y="3162300"/>
            <a:ext cx="10287000" cy="48260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60000" bIns="60000" anchor="ctr"/>
          <a:lstStyle/>
          <a:p>
            <a:pPr/>
            <a:r>
              <a:rPr lang="en-US" sz="1700" b="0">
                <a:solidFill>
                  <a:srgbClr val="243746"/>
                </a:solidFill>
                <a:latin typeface="Aptos"/>
              </a:rPr>
              <a:t>POST ? PUT ? DELETE  /api/products  ? CRUD flow</a:t>
            </a:r>
            <a:endParaRPr lang="en-US" sz="1700"/>
          </a:p>
        </p:txBody>
      </p:sp>
      <p:sp>
        <p:nvSpPr>
          <p:cNvPr id="11" name="Shape 11"/>
          <p:cNvSpPr txBox="0"/>
          <p:nvPr/>
        </p:nvSpPr>
        <p:spPr>
          <a:xfrm>
            <a:off x="609600" y="4038600"/>
            <a:ext cx="127000" cy="127000"/>
          </a:xfrm>
          <a:prstGeom prst="rect">
            <a:avLst/>
          </a:prstGeom>
          <a:solidFill>
            <a:srgbClr val="36B7A5"/>
          </a:solidFill>
          <a:ln>
            <a:noFill/>
          </a:ln>
        </p:spPr>
      </p:sp>
      <p:sp>
        <p:nvSpPr>
          <p:cNvPr id="12" name="Shape 12"/>
          <p:cNvSpPr txBox="1"/>
          <p:nvPr/>
        </p:nvSpPr>
        <p:spPr>
          <a:xfrm>
            <a:off x="965200" y="3886200"/>
            <a:ext cx="10287000" cy="48260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60000" bIns="60000" anchor="ctr"/>
          <a:lstStyle/>
          <a:p>
            <a:pPr/>
            <a:r>
              <a:rPr lang="en-US" sz="1700" b="0">
                <a:solidFill>
                  <a:srgbClr val="243746"/>
                </a:solidFill>
                <a:latin typeface="Aptos"/>
              </a:rPr>
              <a:t>GET  /api/products/low-stock?threshold=10  ? stock alert</a:t>
            </a:r>
            <a:endParaRPr lang="en-US" sz="1700"/>
          </a:p>
        </p:txBody>
      </p:sp>
      <p:sp>
        <p:nvSpPr>
          <p:cNvPr id="13" name="Shape 13"/>
          <p:cNvSpPr txBox="0"/>
          <p:nvPr/>
        </p:nvSpPr>
        <p:spPr>
          <a:xfrm>
            <a:off x="609600" y="4762500"/>
            <a:ext cx="127000" cy="127000"/>
          </a:xfrm>
          <a:prstGeom prst="rect">
            <a:avLst/>
          </a:prstGeom>
          <a:solidFill>
            <a:srgbClr val="36B7A5"/>
          </a:solidFill>
          <a:ln>
            <a:noFill/>
          </a:ln>
        </p:spPr>
      </p:sp>
      <p:sp>
        <p:nvSpPr>
          <p:cNvPr id="14" name="Shape 14"/>
          <p:cNvSpPr txBox="1"/>
          <p:nvPr/>
        </p:nvSpPr>
        <p:spPr>
          <a:xfrm>
            <a:off x="965200" y="4610100"/>
            <a:ext cx="10287000" cy="48260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60000" bIns="60000" anchor="ctr"/>
          <a:lstStyle/>
          <a:p>
            <a:pPr/>
            <a:r>
              <a:rPr lang="en-US" sz="1700" b="0">
                <a:solidFill>
                  <a:srgbClr val="243746"/>
                </a:solidFill>
                <a:latin typeface="Aptos"/>
              </a:rPr>
              <a:t>GET  /api/products/expiring-soon?days=7  ? expiry alert</a:t>
            </a:r>
            <a:endParaRPr lang="en-US" sz="1700"/>
          </a:p>
        </p:txBody>
      </p:sp>
      <p:sp>
        <p:nvSpPr>
          <p:cNvPr id="16" name="Shape 16"/>
          <p:cNvSpPr txBox="1"/>
          <p:nvPr/>
        </p:nvSpPr>
        <p:spPr>
          <a:xfrm>
            <a:off x="609600" y="5689600"/>
            <a:ext cx="10795000" cy="43180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60000" bIns="60000" anchor="ctr"/>
          <a:lstStyle/>
          <a:p>
            <a:pPr/>
            <a:r>
              <a:rPr lang="en-US" sz="1300" b="0">
                <a:solidFill>
                  <a:srgbClr val="607685"/>
                </a:solidFill>
                <a:latin typeface="Aptos"/>
              </a:rPr>
              <a:t>The collection creates a unique SKU and stores the ID for update/delete.</a:t>
            </a:r>
            <a:endParaRPr lang="en-US" sz="1300"/>
          </a:p>
        </p:txBody>
      </p:sp>
      <p:sp>
        <p:nvSpPr>
          <p:cNvPr id="17" name="Shape 17"/>
          <p:cNvSpPr txBox="1"/>
          <p:nvPr/>
        </p:nvSpPr>
        <p:spPr>
          <a:xfrm>
            <a:off x="482600" y="64516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60000" bIns="60000" anchor="ctr"/>
          <a:lstStyle/>
          <a:p>
            <a:pPr/>
            <a:r>
              <a:rPr lang="en-US" sz="1000" b="0">
                <a:solidFill>
                  <a:srgbClr val="607685"/>
                </a:solidFill>
                <a:latin typeface="Aptos"/>
              </a:rPr>
              <a:t>RETAIL INVENTORY API  |  GROUP 5C</a:t>
            </a:r>
            <a:endParaRPr lang="en-US" sz="1000"/>
          </a:p>
        </p:txBody>
      </p:sp>
      <p:sp>
        <p:nvSpPr>
          <p:cNvPr id="18" name="Shape 18"/>
          <p:cNvSpPr txBox="1"/>
          <p:nvPr/>
        </p:nvSpPr>
        <p:spPr>
          <a:xfrm>
            <a:off x="11607800" y="6451600"/>
            <a:ext cx="25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60000" bIns="60000" anchor="ctr"/>
          <a:lstStyle/>
          <a:p>
            <a:pPr/>
            <a:r>
              <a:rPr lang="en-US" sz="1000" b="0">
                <a:solidFill>
                  <a:srgbClr val="607685"/>
                </a:solidFill>
                <a:latin typeface="Aptos"/>
              </a:rPr>
              <a:t>4</a:t>
            </a:r>
            <a:endParaRPr lang="en-US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533400" y="279400"/>
            <a:ext cx="1079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60000" bIns="60000" anchor="ctr"/>
          <a:lstStyle/>
          <a:p>
            <a:pPr/>
            <a:r>
              <a:rPr lang="en-US" sz="1100" b="1">
                <a:solidFill>
                  <a:srgbClr val="36B7A5"/>
                </a:solidFill>
                <a:latin typeface="Aptos"/>
              </a:rPr>
              <a:t>04 / TESTING AND LIMITATIONS</a:t>
            </a:r>
            <a:endParaRPr lang="en-US" sz="1100"/>
          </a:p>
        </p:txBody>
      </p:sp>
      <p:sp>
        <p:nvSpPr>
          <p:cNvPr id="3" name="Shape 3"/>
          <p:cNvSpPr txBox="1"/>
          <p:nvPr/>
        </p:nvSpPr>
        <p:spPr>
          <a:xfrm>
            <a:off x="533400" y="635000"/>
            <a:ext cx="11176000" cy="66040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60000" bIns="60000" anchor="ctr"/>
          <a:lstStyle/>
          <a:p>
            <a:pPr/>
            <a:r>
              <a:rPr lang="en-US" sz="2700" b="1">
                <a:solidFill>
                  <a:srgbClr val="18304A"/>
                </a:solidFill>
                <a:latin typeface="Aptos"/>
              </a:rPr>
              <a:t>Verification and boundaries</a:t>
            </a:r>
            <a:endParaRPr lang="en-US" sz="2700"/>
          </a:p>
        </p:txBody>
      </p:sp>
      <p:sp>
        <p:nvSpPr>
          <p:cNvPr id="4" name="Shape 4"/>
          <p:cNvSpPr txBox="0"/>
          <p:nvPr/>
        </p:nvSpPr>
        <p:spPr>
          <a:xfrm>
            <a:off x="533400" y="1371600"/>
            <a:ext cx="914400" cy="50800"/>
          </a:xfrm>
          <a:prstGeom prst="rect">
            <a:avLst/>
          </a:prstGeom>
          <a:solidFill>
            <a:srgbClr val="36B7A5"/>
          </a:solidFill>
          <a:ln>
            <a:noFill/>
          </a:ln>
        </p:spPr>
      </p:sp>
      <p:sp>
        <p:nvSpPr>
          <p:cNvPr id="5" name="Shape 5"/>
          <p:cNvSpPr txBox="0"/>
          <p:nvPr/>
        </p:nvSpPr>
        <p:spPr>
          <a:xfrm>
            <a:off x="558800" y="1841500"/>
            <a:ext cx="5207000" cy="3810000"/>
          </a:xfrm>
          <a:prstGeom prst="rect">
            <a:avLst/>
          </a:prstGeom>
          <a:solidFill>
            <a:srgbClr val="EAF2F6"/>
          </a:solidFill>
          <a:ln>
            <a:noFill/>
          </a:ln>
        </p:spPr>
      </p:sp>
      <p:sp>
        <p:nvSpPr>
          <p:cNvPr id="6" name="Shape 6"/>
          <p:cNvSpPr txBox="1"/>
          <p:nvPr/>
        </p:nvSpPr>
        <p:spPr>
          <a:xfrm>
            <a:off x="838200" y="2133600"/>
            <a:ext cx="4318000" cy="33020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60000" bIns="60000" anchor="ctr"/>
          <a:lstStyle/>
          <a:p>
            <a:pPr/>
            <a:r>
              <a:rPr lang="en-US" sz="1200" b="1">
                <a:solidFill>
                  <a:srgbClr val="36B7A5"/>
                </a:solidFill>
                <a:latin typeface="Aptos"/>
              </a:rPr>
              <a:t>VERIFICATION</a:t>
            </a:r>
            <a:endParaRPr lang="en-US" sz="1200"/>
          </a:p>
        </p:txBody>
      </p:sp>
      <p:sp>
        <p:nvSpPr>
          <p:cNvPr id="7" name="Shape 7"/>
          <p:cNvSpPr txBox="1"/>
          <p:nvPr/>
        </p:nvSpPr>
        <p:spPr>
          <a:xfrm>
            <a:off x="838200" y="2730500"/>
            <a:ext cx="4572000" cy="190500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60000" bIns="60000" anchor="ctr"/>
          <a:lstStyle/>
          <a:p>
            <a:pPr/>
            <a:r>
              <a:rPr lang="en-US" sz="1700" b="0">
                <a:solidFill>
                  <a:srgbClr val="243746"/>
                </a:solidFill>
                <a:latin typeface="Aptos"/>
              </a:rPr>
              <a:t>Automated tests: 33 passed (npm test). PR #5 also records a successful Postman collection import and checks.</a:t>
            </a:r>
            <a:endParaRPr lang="en-US" sz="1700"/>
          </a:p>
        </p:txBody>
      </p:sp>
      <p:sp>
        <p:nvSpPr>
          <p:cNvPr id="8" name="Shape 8"/>
          <p:cNvSpPr txBox="0"/>
          <p:nvPr/>
        </p:nvSpPr>
        <p:spPr>
          <a:xfrm>
            <a:off x="6223000" y="1841500"/>
            <a:ext cx="5207000" cy="3810000"/>
          </a:xfrm>
          <a:prstGeom prst="rect">
            <a:avLst/>
          </a:prstGeom>
          <a:solidFill>
            <a:srgbClr val="F8F2E5"/>
          </a:solidFill>
          <a:ln>
            <a:noFill/>
          </a:ln>
        </p:spPr>
      </p:sp>
      <p:sp>
        <p:nvSpPr>
          <p:cNvPr id="9" name="Shape 9"/>
          <p:cNvSpPr txBox="1"/>
          <p:nvPr/>
        </p:nvSpPr>
        <p:spPr>
          <a:xfrm>
            <a:off x="6502400" y="2133600"/>
            <a:ext cx="4318000" cy="33020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60000" bIns="60000" anchor="ctr"/>
          <a:lstStyle/>
          <a:p>
            <a:pPr/>
            <a:r>
              <a:rPr lang="en-US" sz="1200" b="1">
                <a:solidFill>
                  <a:srgbClr val="C89B37"/>
                </a:solidFill>
                <a:latin typeface="Aptos"/>
              </a:rPr>
              <a:t>CURRENT LIMITATIONS</a:t>
            </a:r>
            <a:endParaRPr lang="en-US" sz="1200"/>
          </a:p>
        </p:txBody>
      </p:sp>
      <p:sp>
        <p:nvSpPr>
          <p:cNvPr id="10" name="Shape 10"/>
          <p:cNvSpPr txBox="1"/>
          <p:nvPr/>
        </p:nvSpPr>
        <p:spPr>
          <a:xfrm>
            <a:off x="6502400" y="2730500"/>
            <a:ext cx="4508500" cy="234950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60000" bIns="60000" anchor="ctr"/>
          <a:lstStyle/>
          <a:p>
            <a:pPr/>
            <a:r>
              <a:rPr lang="en-US" sz="1700" b="0">
                <a:solidFill>
                  <a:srgbClr val="243746"/>
                </a:solidFill>
                <a:latin typeface="Aptos"/>
              </a:rPr>
              <a:t>Product data is in memory only</a:t>
            </a:r>
            <a:endParaRPr lang="en-US" sz="1700"/>
          </a:p>
          <a:p>
            <a:pPr/>
            <a:r>
              <a:rPr lang="en-US" sz="1700" b="0">
                <a:solidFill>
                  <a:srgbClr val="243746"/>
                </a:solidFill>
                <a:latin typeface="Aptos"/>
              </a:rPr>
              <a:t>No authentication</a:t>
            </a:r>
            <a:endParaRPr lang="en-US" sz="1700"/>
          </a:p>
          <a:p>
            <a:pPr/>
            <a:r>
              <a:rPr lang="en-US" sz="1700" b="0">
                <a:solidFill>
                  <a:srgbClr val="243746"/>
                </a:solidFill>
                <a:latin typeface="Aptos"/>
              </a:rPr>
              <a:t>No user interface</a:t>
            </a:r>
            <a:endParaRPr lang="en-US" sz="1700"/>
          </a:p>
          <a:p>
            <a:pPr/>
            <a:r>
              <a:rPr lang="en-US" sz="1700" b="0">
                <a:solidFill>
                  <a:srgbClr val="243746"/>
                </a:solidFill>
                <a:latin typeface="Aptos"/>
              </a:rPr>
              <a:t/>
            </a:r>
            <a:endParaRPr lang="en-US" sz="1700"/>
          </a:p>
          <a:p>
            <a:pPr/>
            <a:r>
              <a:rPr lang="en-US" sz="1700" b="0">
                <a:solidFill>
                  <a:srgbClr val="243746"/>
                </a:solidFill>
                <a:latin typeface="Aptos"/>
              </a:rPr>
              <a:t>Learning/demo API</a:t>
            </a:r>
            <a:endParaRPr lang="en-US" sz="1700"/>
          </a:p>
        </p:txBody>
      </p:sp>
      <p:sp>
        <p:nvSpPr>
          <p:cNvPr id="11" name="Shape 11"/>
          <p:cNvSpPr txBox="1"/>
          <p:nvPr/>
        </p:nvSpPr>
        <p:spPr>
          <a:xfrm>
            <a:off x="609600" y="5905500"/>
            <a:ext cx="10541000" cy="38100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60000" bIns="60000" anchor="ctr"/>
          <a:lstStyle/>
          <a:p>
            <a:pPr/>
            <a:r>
              <a:rPr lang="en-US" sz="1500" b="1">
                <a:solidFill>
                  <a:srgbClr val="18304A"/>
                </a:solidFill>
                <a:latin typeface="Aptos"/>
              </a:rPr>
              <a:t>Next step: use persistent storage for data that must survive restarts.</a:t>
            </a:r>
            <a:endParaRPr lang="en-US" sz="1500"/>
          </a:p>
        </p:txBody>
      </p:sp>
      <p:sp>
        <p:nvSpPr>
          <p:cNvPr id="12" name="Shape 12"/>
          <p:cNvSpPr txBox="1"/>
          <p:nvPr/>
        </p:nvSpPr>
        <p:spPr>
          <a:xfrm>
            <a:off x="482600" y="64516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60000" bIns="60000" anchor="ctr"/>
          <a:lstStyle/>
          <a:p>
            <a:pPr/>
            <a:r>
              <a:rPr lang="en-US" sz="1000" b="0">
                <a:solidFill>
                  <a:srgbClr val="607685"/>
                </a:solidFill>
                <a:latin typeface="Aptos"/>
              </a:rPr>
              <a:t>RETAIL INVENTORY API  |  GROUP 5C</a:t>
            </a:r>
            <a:endParaRPr lang="en-US" sz="1000"/>
          </a:p>
        </p:txBody>
      </p:sp>
      <p:sp>
        <p:nvSpPr>
          <p:cNvPr id="13" name="Shape 13"/>
          <p:cNvSpPr txBox="1"/>
          <p:nvPr/>
        </p:nvSpPr>
        <p:spPr>
          <a:xfrm>
            <a:off x="11607800" y="6451600"/>
            <a:ext cx="25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60000" bIns="60000" anchor="ctr"/>
          <a:lstStyle/>
          <a:p>
            <a:pPr/>
            <a:r>
              <a:rPr lang="en-US" sz="1000" b="0">
                <a:solidFill>
                  <a:srgbClr val="607685"/>
                </a:solidFill>
                <a:latin typeface="Aptos"/>
              </a:rPr>
              <a:t>5</a:t>
            </a:r>
            <a:endParaRPr lang="en-US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kicker"/>
          <p:cNvSpPr txBox="1"/>
          <p:nvPr/>
        </p:nvSpPr>
        <p:spPr>
          <a:xfrm>
            <a:off x="420624" y="219456"/>
            <a:ext cx="10515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/>
            <a:r>
              <a:rPr lang="en-US" sz="1100" b="1">
                <a:solidFill>
                  <a:srgbClr val="36B7A5"/>
                </a:solidFill>
                <a:latin typeface="Aptos"/>
              </a:rPr>
              <a:t>GROUP 5C  /  POSTMAN CAPTURE 1</a:t>
            </a:r>
            <a:endParaRPr lang="en-US" sz="1100"/>
          </a:p>
        </p:txBody>
      </p:sp>
      <p:sp>
        <p:nvSpPr>
          <p:cNvPr id="3" name="Slide title"/>
          <p:cNvSpPr txBox="1"/>
          <p:nvPr/>
        </p:nvSpPr>
        <p:spPr>
          <a:xfrm>
            <a:off x="420624" y="484632"/>
            <a:ext cx="10972800" cy="4846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/>
            <a:r>
              <a:rPr lang="en-US" sz="2700" b="1">
                <a:solidFill>
                  <a:srgbClr val="18304A"/>
                </a:solidFill>
                <a:latin typeface="Aptos"/>
              </a:rPr>
              <a:t>Postman response evidence</a:t>
            </a:r>
            <a:endParaRPr lang="en-US" sz="2700"/>
          </a:p>
        </p:txBody>
      </p:sp>
      <p:sp>
        <p:nvSpPr>
          <p:cNvPr id="4" name="Accent rule"/>
          <p:cNvSpPr/>
          <p:nvPr/>
        </p:nvSpPr>
        <p:spPr>
          <a:xfrm>
            <a:off x="420624" y="1078992"/>
            <a:ext cx="731520" cy="41148"/>
          </a:xfrm>
          <a:prstGeom prst="rect">
            <a:avLst/>
          </a:prstGeom>
          <a:solidFill>
            <a:srgbClr val="36B7A5"/>
          </a:solidFill>
          <a:ln>
            <a:noFill/>
          </a:ln>
        </p:spPr>
      </p:sp>
      <p:sp>
        <p:nvSpPr>
          <p:cNvPr id="80" name="Footer"/>
          <p:cNvSpPr txBox="1"/>
          <p:nvPr/>
        </p:nvSpPr>
        <p:spPr>
          <a:xfrm>
            <a:off x="384048" y="6446520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/>
            <a:r>
              <a:rPr lang="en-US" sz="900" b="0">
                <a:solidFill>
                  <a:srgbClr val="607685"/>
                </a:solidFill>
                <a:latin typeface="Aptos"/>
              </a:rPr>
              <a:t>RETAIL INVENTORY API  |  GROUP 5C</a:t>
            </a:r>
            <a:endParaRPr lang="en-US" sz="900"/>
          </a:p>
        </p:txBody>
      </p:sp>
      <p:sp>
        <p:nvSpPr>
          <p:cNvPr id="81" name="Slide number"/>
          <p:cNvSpPr txBox="1"/>
          <p:nvPr/>
        </p:nvSpPr>
        <p:spPr>
          <a:xfrm>
            <a:off x="11475720" y="6446520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/>
            <a:r>
              <a:rPr lang="en-US" sz="900" b="0">
                <a:solidFill>
                  <a:srgbClr val="607685"/>
                </a:solidFill>
                <a:latin typeface="Aptos"/>
              </a:rPr>
              <a:t>6</a:t>
            </a:r>
            <a:endParaRPr lang="en-US" sz="900"/>
          </a:p>
        </p:txBody>
      </p:sp>
      <p:pic>
        <p:nvPicPr>
          <p:cNvPr id="10" name="Postman screenshot: health-check.png" descr="Postman screenshot: health-check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438912" y="1344168"/>
            <a:ext cx="5440680" cy="2901696"/>
          </a:xfrm>
          <a:prstGeom prst="rect">
            <a:avLst/>
          </a:prstGeom>
        </p:spPr>
      </p:pic>
      <p:sp>
        <p:nvSpPr>
          <p:cNvPr id="20" name="Screenshot caption 1"/>
          <p:cNvSpPr txBox="1"/>
          <p:nvPr/>
        </p:nvSpPr>
        <p:spPr>
          <a:xfrm>
            <a:off x="438912" y="4480560"/>
            <a:ext cx="54406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/>
            <a:r>
              <a:rPr lang="en-US" sz="1350" b="1">
                <a:solidFill>
                  <a:srgbClr val="18304A"/>
                </a:solidFill>
                <a:latin typeface="Aptos"/>
              </a:rPr>
              <a:t>Health check  |  GET /health  |  200 OK</a:t>
            </a:r>
            <a:endParaRPr lang="en-US" sz="1350"/>
          </a:p>
        </p:txBody>
      </p:sp>
      <p:pic>
        <p:nvPicPr>
          <p:cNvPr id="11" name="Postman screenshot: product-list.png" descr="Postman screenshot: product-list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6135624" y="1344168"/>
            <a:ext cx="5440680" cy="2901696"/>
          </a:xfrm>
          <a:prstGeom prst="rect">
            <a:avLst/>
          </a:prstGeom>
        </p:spPr>
      </p:pic>
      <p:sp>
        <p:nvSpPr>
          <p:cNvPr id="21" name="Screenshot caption 2"/>
          <p:cNvSpPr txBox="1"/>
          <p:nvPr/>
        </p:nvSpPr>
        <p:spPr>
          <a:xfrm>
            <a:off x="6135624" y="4480560"/>
            <a:ext cx="54406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/>
            <a:r>
              <a:rPr lang="en-US" sz="1350" b="1">
                <a:solidFill>
                  <a:srgbClr val="18304A"/>
                </a:solidFill>
                <a:latin typeface="Aptos"/>
              </a:rPr>
              <a:t>Product list  |  GET /api/products  |  200 OK</a:t>
            </a:r>
            <a:endParaRPr lang="en-US" sz="13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kicker"/>
          <p:cNvSpPr txBox="1"/>
          <p:nvPr/>
        </p:nvSpPr>
        <p:spPr>
          <a:xfrm>
            <a:off x="420624" y="219456"/>
            <a:ext cx="10515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/>
            <a:r>
              <a:rPr lang="en-US" sz="1100" b="1">
                <a:solidFill>
                  <a:srgbClr val="36B7A5"/>
                </a:solidFill>
                <a:latin typeface="Aptos"/>
              </a:rPr>
              <a:t>GROUP 5C  /  POSTMAN CAPTURE 2</a:t>
            </a:r>
            <a:endParaRPr lang="en-US" sz="1100"/>
          </a:p>
        </p:txBody>
      </p:sp>
      <p:sp>
        <p:nvSpPr>
          <p:cNvPr id="3" name="Slide title"/>
          <p:cNvSpPr txBox="1"/>
          <p:nvPr/>
        </p:nvSpPr>
        <p:spPr>
          <a:xfrm>
            <a:off x="420624" y="484632"/>
            <a:ext cx="10972800" cy="4846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/>
            <a:r>
              <a:rPr lang="en-US" sz="2700" b="1">
                <a:solidFill>
                  <a:srgbClr val="18304A"/>
                </a:solidFill>
                <a:latin typeface="Aptos"/>
              </a:rPr>
              <a:t>Postman response evidence</a:t>
            </a:r>
            <a:endParaRPr lang="en-US" sz="2700"/>
          </a:p>
        </p:txBody>
      </p:sp>
      <p:sp>
        <p:nvSpPr>
          <p:cNvPr id="4" name="Accent rule"/>
          <p:cNvSpPr/>
          <p:nvPr/>
        </p:nvSpPr>
        <p:spPr>
          <a:xfrm>
            <a:off x="420624" y="1078992"/>
            <a:ext cx="731520" cy="41148"/>
          </a:xfrm>
          <a:prstGeom prst="rect">
            <a:avLst/>
          </a:prstGeom>
          <a:solidFill>
            <a:srgbClr val="36B7A5"/>
          </a:solidFill>
          <a:ln>
            <a:noFill/>
          </a:ln>
        </p:spPr>
      </p:sp>
      <p:sp>
        <p:nvSpPr>
          <p:cNvPr id="80" name="Footer"/>
          <p:cNvSpPr txBox="1"/>
          <p:nvPr/>
        </p:nvSpPr>
        <p:spPr>
          <a:xfrm>
            <a:off x="384048" y="6446520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/>
            <a:r>
              <a:rPr lang="en-US" sz="900" b="0">
                <a:solidFill>
                  <a:srgbClr val="607685"/>
                </a:solidFill>
                <a:latin typeface="Aptos"/>
              </a:rPr>
              <a:t>RETAIL INVENTORY API  |  GROUP 5C</a:t>
            </a:r>
            <a:endParaRPr lang="en-US" sz="900"/>
          </a:p>
        </p:txBody>
      </p:sp>
      <p:sp>
        <p:nvSpPr>
          <p:cNvPr id="81" name="Slide number"/>
          <p:cNvSpPr txBox="1"/>
          <p:nvPr/>
        </p:nvSpPr>
        <p:spPr>
          <a:xfrm>
            <a:off x="11475720" y="6446520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/>
            <a:r>
              <a:rPr lang="en-US" sz="900" b="0">
                <a:solidFill>
                  <a:srgbClr val="607685"/>
                </a:solidFill>
                <a:latin typeface="Aptos"/>
              </a:rPr>
              <a:t>7</a:t>
            </a:r>
            <a:endParaRPr lang="en-US" sz="900"/>
          </a:p>
        </p:txBody>
      </p:sp>
      <p:pic>
        <p:nvPicPr>
          <p:cNvPr id="10" name="Postman screenshot: product-filter-category-search.png" descr="Postman screenshot: product-filter-category-search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438912" y="1344168"/>
            <a:ext cx="5440680" cy="2901696"/>
          </a:xfrm>
          <a:prstGeom prst="rect">
            <a:avLst/>
          </a:prstGeom>
        </p:spPr>
      </p:pic>
      <p:sp>
        <p:nvSpPr>
          <p:cNvPr id="20" name="Screenshot caption 1"/>
          <p:cNvSpPr txBox="1"/>
          <p:nvPr/>
        </p:nvSpPr>
        <p:spPr>
          <a:xfrm>
            <a:off x="438912" y="4480560"/>
            <a:ext cx="54406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/>
            <a:r>
              <a:rPr lang="en-US" sz="1350" b="1">
                <a:solidFill>
                  <a:srgbClr val="18304A"/>
                </a:solidFill>
                <a:latin typeface="Aptos"/>
              </a:rPr>
              <a:t>Category + search filter  |  200 OK</a:t>
            </a:r>
            <a:endParaRPr lang="en-US" sz="1350"/>
          </a:p>
        </p:txBody>
      </p:sp>
      <p:pic>
        <p:nvPicPr>
          <p:cNvPr id="11" name="Postman screenshot: low-stock-alert.png" descr="Postman screenshot: low-stock-alert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6135624" y="1344168"/>
            <a:ext cx="5440680" cy="2901696"/>
          </a:xfrm>
          <a:prstGeom prst="rect">
            <a:avLst/>
          </a:prstGeom>
        </p:spPr>
      </p:pic>
      <p:sp>
        <p:nvSpPr>
          <p:cNvPr id="21" name="Screenshot caption 2"/>
          <p:cNvSpPr txBox="1"/>
          <p:nvPr/>
        </p:nvSpPr>
        <p:spPr>
          <a:xfrm>
            <a:off x="6135624" y="4480560"/>
            <a:ext cx="54406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/>
            <a:r>
              <a:rPr lang="en-US" sz="1350" b="1">
                <a:solidFill>
                  <a:srgbClr val="18304A"/>
                </a:solidFill>
                <a:latin typeface="Aptos"/>
              </a:rPr>
              <a:t>Low-stock alert  |  threshold=10  |  200 OK</a:t>
            </a:r>
            <a:endParaRPr lang="en-US" sz="13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kicker"/>
          <p:cNvSpPr txBox="1"/>
          <p:nvPr/>
        </p:nvSpPr>
        <p:spPr>
          <a:xfrm>
            <a:off x="420624" y="219456"/>
            <a:ext cx="10515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/>
            <a:r>
              <a:rPr lang="en-US" sz="1100" b="1">
                <a:solidFill>
                  <a:srgbClr val="36B7A5"/>
                </a:solidFill>
                <a:latin typeface="Aptos"/>
              </a:rPr>
              <a:t>GROUP 5C  /  POSTMAN CAPTURE 03</a:t>
            </a:r>
            <a:endParaRPr lang="en-US" sz="1100"/>
          </a:p>
        </p:txBody>
      </p:sp>
      <p:sp>
        <p:nvSpPr>
          <p:cNvPr id="3" name="Slide title"/>
          <p:cNvSpPr txBox="1"/>
          <p:nvPr/>
        </p:nvSpPr>
        <p:spPr>
          <a:xfrm>
            <a:off x="420624" y="484632"/>
            <a:ext cx="10972800" cy="4846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/>
            <a:r>
              <a:rPr lang="en-US" sz="2700" b="1">
                <a:solidFill>
                  <a:srgbClr val="18304A"/>
                </a:solidFill>
                <a:latin typeface="Aptos"/>
              </a:rPr>
              <a:t>Unknown route returns a clear 404</a:t>
            </a:r>
            <a:endParaRPr lang="en-US" sz="2700"/>
          </a:p>
        </p:txBody>
      </p:sp>
      <p:sp>
        <p:nvSpPr>
          <p:cNvPr id="4" name="Accent rule"/>
          <p:cNvSpPr/>
          <p:nvPr/>
        </p:nvSpPr>
        <p:spPr>
          <a:xfrm>
            <a:off x="420624" y="1078992"/>
            <a:ext cx="731520" cy="41148"/>
          </a:xfrm>
          <a:prstGeom prst="rect">
            <a:avLst/>
          </a:prstGeom>
          <a:solidFill>
            <a:srgbClr val="36B7A5"/>
          </a:solidFill>
          <a:ln>
            <a:noFill/>
          </a:ln>
        </p:spPr>
      </p:sp>
      <p:sp>
        <p:nvSpPr>
          <p:cNvPr id="80" name="Footer"/>
          <p:cNvSpPr txBox="1"/>
          <p:nvPr/>
        </p:nvSpPr>
        <p:spPr>
          <a:xfrm>
            <a:off x="384048" y="6446520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/>
            <a:r>
              <a:rPr lang="en-US" sz="900" b="0">
                <a:solidFill>
                  <a:srgbClr val="607685"/>
                </a:solidFill>
                <a:latin typeface="Aptos"/>
              </a:rPr>
              <a:t>RETAIL INVENTORY API  |  GROUP 5C</a:t>
            </a:r>
            <a:endParaRPr lang="en-US" sz="900"/>
          </a:p>
        </p:txBody>
      </p:sp>
      <p:sp>
        <p:nvSpPr>
          <p:cNvPr id="81" name="Slide number"/>
          <p:cNvSpPr txBox="1"/>
          <p:nvPr/>
        </p:nvSpPr>
        <p:spPr>
          <a:xfrm>
            <a:off x="11475720" y="6446520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/>
            <a:r>
              <a:rPr lang="en-US" sz="900" b="0">
                <a:solidFill>
                  <a:srgbClr val="607685"/>
                </a:solidFill>
                <a:latin typeface="Aptos"/>
              </a:rPr>
              <a:t>8</a:t>
            </a:r>
            <a:endParaRPr lang="en-US" sz="900"/>
          </a:p>
        </p:txBody>
      </p:sp>
      <p:pic>
        <p:nvPicPr>
          <p:cNvPr id="10" name="Postman screenshot: unknown-route-404.png" descr="Postman screenshot: unknown-route-404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1700784" y="1307592"/>
            <a:ext cx="8787384" cy="4686604"/>
          </a:xfrm>
          <a:prstGeom prst="rect">
            <a:avLst/>
          </a:prstGeom>
        </p:spPr>
      </p:pic>
      <p:sp>
        <p:nvSpPr>
          <p:cNvPr id="20" name="Screenshot caption"/>
          <p:cNvSpPr txBox="1"/>
          <p:nvPr/>
        </p:nvSpPr>
        <p:spPr>
          <a:xfrm>
            <a:off x="1700784" y="6089904"/>
            <a:ext cx="878738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/>
            <a:r>
              <a:rPr lang="en-US" sz="1400" b="1">
                <a:solidFill>
                  <a:srgbClr val="18304A"/>
                </a:solidFill>
                <a:latin typeface="Aptos"/>
              </a:rPr>
              <a:t>GET /unknown-route  |  404 Not Found  |  JSON error response</a:t>
            </a:r>
            <a:endParaRPr lang="en-US"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ail API">
  <a:themeElements>
    <a:clrScheme name="Retail API">
      <a:dk1>
        <a:srgbClr val="18304A"/>
      </a:dk1>
      <a:lt1>
        <a:srgbClr val="FFFFFF"/>
      </a:lt1>
      <a:dk2>
        <a:srgbClr val="243746"/>
      </a:dk2>
      <a:lt2>
        <a:srgbClr val="EAF2F6"/>
      </a:lt2>
      <a:accent1>
        <a:srgbClr val="36B7A5"/>
      </a:accent1>
      <a:accent2>
        <a:srgbClr val="F2B544"/>
      </a:accent2>
      <a:accent3>
        <a:srgbClr val="607685"/>
      </a:accent3>
      <a:accent4>
        <a:srgbClr val="C89B37"/>
      </a:accent4>
      <a:accent5>
        <a:srgbClr val="A9C7D4"/>
      </a:accent5>
      <a:accent6>
        <a:srgbClr val="F8F2E5"/>
      </a:accent6>
      <a:hlink>
        <a:srgbClr val="0563C1"/>
      </a:hlink>
      <a:folHlink>
        <a:srgbClr val="954F72"/>
      </a:folHlink>
    </a:clrScheme>
    <a:fontScheme name="Retail API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Retail API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100000">
              <a:schemeClr val="phClr">
                <a:shade val="50000"/>
                <a:satMod val="200000"/>
              </a:schemeClr>
            </a:gs>
          </a:gsLst>
          <a:lin ang="16200000" scaled="1"/>
        </a:gra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  <a:satMod val="150000"/>
          </a:schemeClr>
        </a:solidFill>
      </a:bgFillStyleLst>
    </a:fmtScheme>
  </a:themeElements>
</a:theme>
</file>